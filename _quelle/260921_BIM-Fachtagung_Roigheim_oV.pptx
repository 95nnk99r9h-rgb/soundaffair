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sldIdLst>
    <p:sldId id="302" r:id="rId5"/>
    <p:sldId id="334" r:id="rId6"/>
    <p:sldId id="320" r:id="rId7"/>
    <p:sldId id="322" r:id="rId8"/>
    <p:sldId id="315" r:id="rId9"/>
    <p:sldId id="317" r:id="rId10"/>
    <p:sldId id="330" r:id="rId11"/>
    <p:sldId id="272" r:id="rId12"/>
    <p:sldId id="335" r:id="rId13"/>
    <p:sldId id="336" r:id="rId14"/>
    <p:sldId id="324" r:id="rId15"/>
    <p:sldId id="331" r:id="rId16"/>
    <p:sldId id="328" r:id="rId17"/>
    <p:sldId id="337" r:id="rId18"/>
    <p:sldId id="332" r:id="rId19"/>
  </p:sldIdLst>
  <p:sldSz cx="12192000" cy="6858000"/>
  <p:notesSz cx="6858000" cy="9144000"/>
  <p:custShowLst>
    <p:custShow name="Zielgruppenpräsentation 1" id="0">
      <p:sldLst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</p:sldLst>
    </p:custShow>
  </p:custShow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rcel" id="{50B61F73-A65E-41CC-B952-AAC4CD08EA21}">
          <p14:sldIdLst>
            <p14:sldId id="302"/>
            <p14:sldId id="334"/>
            <p14:sldId id="320"/>
            <p14:sldId id="322"/>
          </p14:sldIdLst>
        </p14:section>
        <p14:section name="Lukas" id="{EAC54046-72CC-4D0C-AB92-F3D155BE9C66}">
          <p14:sldIdLst>
            <p14:sldId id="315"/>
            <p14:sldId id="317"/>
            <p14:sldId id="330"/>
          </p14:sldIdLst>
        </p14:section>
        <p14:section name="Marcel 2" id="{1C1823D0-71C7-4DDA-91E0-09FB038591A3}">
          <p14:sldIdLst>
            <p14:sldId id="272"/>
            <p14:sldId id="335"/>
            <p14:sldId id="336"/>
            <p14:sldId id="324"/>
            <p14:sldId id="331"/>
            <p14:sldId id="328"/>
          </p14:sldIdLst>
        </p14:section>
        <p14:section name="Lukas 2" id="{F654789F-D70C-481A-80A9-3AAD8D295AF0}">
          <p14:sldIdLst>
            <p14:sldId id="337"/>
          </p14:sldIdLst>
        </p14:section>
        <p14:section name="Backup" id="{C6D146F1-4510-448F-917E-FDA282304FEE}">
          <p14:sldIdLst/>
        </p14:section>
        <p14:section name="Ende" id="{A5D4D7EF-733B-454C-A98D-AE0BA4AEC013}">
          <p14:sldIdLst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91B"/>
    <a:srgbClr val="F7F6F2"/>
    <a:srgbClr val="DCD9CF"/>
    <a:srgbClr val="0F6E6C"/>
    <a:srgbClr val="EDEBE3"/>
    <a:srgbClr val="204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37" autoAdjust="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B3D70-E434-4BA1-A0B5-F61979359E87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B515B-395D-41C4-BB7D-12E810A580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40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B515B-395D-41C4-BB7D-12E810A580B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835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Architektur: Viel Bundespolizei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B515B-395D-41C4-BB7D-12E810A580B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78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Direkt Integration zu Autodesk, </a:t>
            </a:r>
            <a:r>
              <a:rPr lang="de-DE" dirty="0" err="1"/>
              <a:t>Procore</a:t>
            </a:r>
            <a:r>
              <a:rPr lang="de-DE" dirty="0"/>
              <a:t> oder </a:t>
            </a:r>
            <a:r>
              <a:rPr lang="de-DE" dirty="0" err="1"/>
              <a:t>Revizto</a:t>
            </a:r>
            <a:r>
              <a:rPr lang="de-DE" dirty="0"/>
              <a:t> zum Aufgabenmanagement oder </a:t>
            </a:r>
            <a:r>
              <a:rPr lang="de-DE" dirty="0" err="1"/>
              <a:t>export</a:t>
            </a:r>
            <a:r>
              <a:rPr lang="de-DE" dirty="0"/>
              <a:t> als BCF als </a:t>
            </a:r>
            <a:r>
              <a:rPr lang="de-DE" dirty="0" err="1"/>
              <a:t>Issue</a:t>
            </a:r>
            <a:r>
              <a:rPr lang="de-DE" dirty="0"/>
              <a:t> in Bim </a:t>
            </a:r>
            <a:r>
              <a:rPr lang="de-DE" dirty="0" err="1"/>
              <a:t>collab</a:t>
            </a:r>
            <a:r>
              <a:rPr lang="de-DE" dirty="0"/>
              <a:t> dadurch in </a:t>
            </a:r>
            <a:r>
              <a:rPr lang="de-DE" dirty="0" err="1"/>
              <a:t>navis</a:t>
            </a:r>
            <a:r>
              <a:rPr lang="de-DE" dirty="0"/>
              <a:t> und </a:t>
            </a:r>
            <a:r>
              <a:rPr lang="de-DE" dirty="0" err="1"/>
              <a:t>revit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B515B-395D-41C4-BB7D-12E810A580B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16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05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6347094-9828-B34A-4236-59B732E49583}"/>
              </a:ext>
            </a:extLst>
          </p:cNvPr>
          <p:cNvSpPr/>
          <p:nvPr userDrawn="1"/>
        </p:nvSpPr>
        <p:spPr>
          <a:xfrm>
            <a:off x="533399" y="1282698"/>
            <a:ext cx="10820401" cy="4810127"/>
          </a:xfrm>
          <a:prstGeom prst="roundRect">
            <a:avLst>
              <a:gd name="adj" fmla="val 3849"/>
            </a:avLst>
          </a:prstGeom>
          <a:solidFill>
            <a:srgbClr val="EDEBE3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lvl="0"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731F5CB-28C5-66C5-AB12-54506FAC2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898" y="6492874"/>
            <a:ext cx="677778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fld id="{2D383119-3C41-4AAD-8A7E-11F974FECF2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E4A4778F-45EA-10BF-C2A3-5E726CA48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r>
              <a:rPr lang="de-DE"/>
              <a:t>BIM-Fachtagung - BIM trifft Bahnsteig 30.09.2026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456FE17B-EFE4-7D46-205C-9D3F96BB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6"/>
            <a:ext cx="10837862" cy="596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49B357EC-1765-4912-9AE1-72C8A36D19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8" y="1285874"/>
            <a:ext cx="10837862" cy="4806951"/>
          </a:xfrm>
          <a:prstGeom prst="roundRect">
            <a:avLst>
              <a:gd name="adj" fmla="val 4163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50000"/>
              </a:lnSpc>
              <a:defRPr sz="1800" b="1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F4EFCC0-6CE0-2C83-ADAC-27100245C638}"/>
              </a:ext>
            </a:extLst>
          </p:cNvPr>
          <p:cNvCxnSpPr>
            <a:cxnSpLocks/>
          </p:cNvCxnSpPr>
          <p:nvPr userDrawn="1"/>
        </p:nvCxnSpPr>
        <p:spPr>
          <a:xfrm>
            <a:off x="669129" y="958849"/>
            <a:ext cx="578646" cy="0"/>
          </a:xfrm>
          <a:prstGeom prst="line">
            <a:avLst/>
          </a:prstGeom>
          <a:ln w="5715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17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6347094-9828-B34A-4236-59B732E49583}"/>
              </a:ext>
            </a:extLst>
          </p:cNvPr>
          <p:cNvSpPr/>
          <p:nvPr userDrawn="1"/>
        </p:nvSpPr>
        <p:spPr>
          <a:xfrm>
            <a:off x="5555848" y="1282698"/>
            <a:ext cx="5797952" cy="4951413"/>
          </a:xfrm>
          <a:prstGeom prst="roundRect">
            <a:avLst>
              <a:gd name="adj" fmla="val 3849"/>
            </a:avLst>
          </a:prstGeom>
          <a:solidFill>
            <a:srgbClr val="FFFFFF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21426D">
                <a:alpha val="43000"/>
              </a:srgbClr>
            </a:outerShdw>
          </a:effectLst>
        </p:spPr>
        <p:txBody>
          <a:bodyPr rtlCol="0" anchor="ctr"/>
          <a:lstStyle/>
          <a:p>
            <a:pPr lvl="0"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731F5CB-28C5-66C5-AB12-54506FAC2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898" y="6492874"/>
            <a:ext cx="677778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fld id="{2D383119-3C41-4AAD-8A7E-11F974FECF2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E4A4778F-45EA-10BF-C2A3-5E726CA48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r>
              <a:rPr lang="de-DE"/>
              <a:t>BIM-Fachtagung - BIM trifft Bahnsteig 30.09.2026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456FE17B-EFE4-7D46-205C-9D3F96BB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6"/>
            <a:ext cx="10837862" cy="596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49B357EC-1765-4912-9AE1-72C8A36D1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48" y="1285874"/>
            <a:ext cx="5797952" cy="4951413"/>
          </a:xfrm>
          <a:prstGeom prst="roundRect">
            <a:avLst>
              <a:gd name="adj" fmla="val 4163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400" b="1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F4EFCC0-6CE0-2C83-ADAC-27100245C638}"/>
              </a:ext>
            </a:extLst>
          </p:cNvPr>
          <p:cNvCxnSpPr>
            <a:cxnSpLocks/>
          </p:cNvCxnSpPr>
          <p:nvPr userDrawn="1"/>
        </p:nvCxnSpPr>
        <p:spPr>
          <a:xfrm>
            <a:off x="669129" y="958849"/>
            <a:ext cx="578646" cy="0"/>
          </a:xfrm>
          <a:prstGeom prst="line">
            <a:avLst/>
          </a:prstGeom>
          <a:ln w="5715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draußen, Nacht, Himmel, Straße enthält.&#10;&#10;Automatisch generierte Beschreibung">
            <a:extLst>
              <a:ext uri="{FF2B5EF4-FFF2-40B4-BE49-F238E27FC236}">
                <a16:creationId xmlns:a16="http://schemas.microsoft.com/office/drawing/2014/main" id="{DFBEF527-C207-3AB4-EB71-06D6EA6061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7373" y="3046310"/>
            <a:ext cx="7135595" cy="38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8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731F5CB-28C5-66C5-AB12-54506FAC2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898" y="6492874"/>
            <a:ext cx="677778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fld id="{2D383119-3C41-4AAD-8A7E-11F974FECF2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E4A4778F-45EA-10BF-C2A3-5E726CA48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r>
              <a:rPr lang="de-DE"/>
              <a:t>BIM-Fachtagung - BIM trifft Bahnsteig 30.09.2026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456FE17B-EFE4-7D46-205C-9D3F96BB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6"/>
            <a:ext cx="10837862" cy="596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F4EFCC0-6CE0-2C83-ADAC-27100245C638}"/>
              </a:ext>
            </a:extLst>
          </p:cNvPr>
          <p:cNvCxnSpPr>
            <a:cxnSpLocks/>
          </p:cNvCxnSpPr>
          <p:nvPr userDrawn="1"/>
        </p:nvCxnSpPr>
        <p:spPr>
          <a:xfrm>
            <a:off x="669129" y="958849"/>
            <a:ext cx="578646" cy="0"/>
          </a:xfrm>
          <a:prstGeom prst="line">
            <a:avLst/>
          </a:prstGeom>
          <a:ln w="5715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DD8A1FD-1D3C-1EC0-F47D-7BAE035D04E2}"/>
              </a:ext>
            </a:extLst>
          </p:cNvPr>
          <p:cNvSpPr/>
          <p:nvPr userDrawn="1"/>
        </p:nvSpPr>
        <p:spPr>
          <a:xfrm>
            <a:off x="517523" y="1421418"/>
            <a:ext cx="2609453" cy="1800000"/>
          </a:xfrm>
          <a:prstGeom prst="roundRect">
            <a:avLst>
              <a:gd name="adj" fmla="val 14622"/>
            </a:avLst>
          </a:prstGeom>
          <a:solidFill>
            <a:srgbClr val="FFFFFF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21426D">
                <a:alpha val="43000"/>
              </a:srgbClr>
            </a:outerShdw>
          </a:effectLst>
        </p:spPr>
        <p:txBody>
          <a:bodyPr rtlCol="0" anchor="ctr"/>
          <a:lstStyle/>
          <a:p>
            <a:pPr lvl="0"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74A80AC-ED60-B866-0A67-5A6297054D2A}"/>
              </a:ext>
            </a:extLst>
          </p:cNvPr>
          <p:cNvSpPr txBox="1"/>
          <p:nvPr userDrawn="1"/>
        </p:nvSpPr>
        <p:spPr>
          <a:xfrm>
            <a:off x="574674" y="1473246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20426E"/>
                </a:solidFill>
                <a:latin typeface="DB Neo Screen Head Black" pitchFamily="2" charset="0"/>
              </a:rPr>
              <a:t>Akquise: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49810994-94DD-8269-C9D8-33E85CD0307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7522" y="1733551"/>
            <a:ext cx="2609453" cy="148786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800">
                <a:solidFill>
                  <a:srgbClr val="EB891B"/>
                </a:solidFill>
                <a:latin typeface="DB Neo Screen Head Black" pitchFamily="2" charset="0"/>
              </a:defRPr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de-DE"/>
              <a:t>Bearbeiter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3E47F23D-20F6-D601-4B53-3CCB10787F56}"/>
              </a:ext>
            </a:extLst>
          </p:cNvPr>
          <p:cNvSpPr/>
          <p:nvPr userDrawn="1"/>
        </p:nvSpPr>
        <p:spPr>
          <a:xfrm>
            <a:off x="3487341" y="1423224"/>
            <a:ext cx="2609454" cy="4154397"/>
          </a:xfrm>
          <a:prstGeom prst="roundRect">
            <a:avLst>
              <a:gd name="adj" fmla="val 14622"/>
            </a:avLst>
          </a:prstGeom>
          <a:solidFill>
            <a:srgbClr val="FFFFFF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21426D">
                <a:alpha val="43000"/>
              </a:srgbClr>
            </a:outerShdw>
          </a:effectLst>
        </p:spPr>
        <p:txBody>
          <a:bodyPr rtlCol="0" anchor="ctr"/>
          <a:lstStyle/>
          <a:p>
            <a:pPr lvl="0"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C44FEBA-7A6C-93FE-BA37-0BB96C32E736}"/>
              </a:ext>
            </a:extLst>
          </p:cNvPr>
          <p:cNvSpPr txBox="1"/>
          <p:nvPr userDrawn="1"/>
        </p:nvSpPr>
        <p:spPr>
          <a:xfrm>
            <a:off x="3563539" y="1475053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20426E"/>
                </a:solidFill>
                <a:latin typeface="DB Neo Screen Head Black" pitchFamily="2" charset="0"/>
              </a:rPr>
              <a:t>Zuständig: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B9310C24-B2C8-BCDA-AFB7-54CAF0E28C6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487341" y="1733551"/>
            <a:ext cx="2611036" cy="3844071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numCol="1" rtlCol="0">
            <a:norm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800">
                <a:solidFill>
                  <a:srgbClr val="20426E"/>
                </a:solidFill>
                <a:latin typeface="DB Neo Office" pitchFamily="2" charset="0"/>
              </a:defRPr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de-DE"/>
              <a:t>Bearbeiter</a:t>
            </a:r>
            <a:br>
              <a:rPr lang="de-DE"/>
            </a:br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5C7C025-234A-D979-D6A1-33C8B1197309}"/>
              </a:ext>
            </a:extLst>
          </p:cNvPr>
          <p:cNvSpPr/>
          <p:nvPr userDrawn="1"/>
        </p:nvSpPr>
        <p:spPr>
          <a:xfrm>
            <a:off x="515940" y="3777622"/>
            <a:ext cx="2609453" cy="1800000"/>
          </a:xfrm>
          <a:prstGeom prst="roundRect">
            <a:avLst>
              <a:gd name="adj" fmla="val 14622"/>
            </a:avLst>
          </a:prstGeom>
          <a:solidFill>
            <a:srgbClr val="FFFFFF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21426D">
                <a:alpha val="43000"/>
              </a:srgbClr>
            </a:outerShdw>
          </a:effectLst>
        </p:spPr>
        <p:txBody>
          <a:bodyPr rtlCol="0" anchor="ctr"/>
          <a:lstStyle/>
          <a:p>
            <a:pPr lvl="0"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EFB164A-3AA3-11FF-7294-3CA8FFFA9076}"/>
              </a:ext>
            </a:extLst>
          </p:cNvPr>
          <p:cNvSpPr txBox="1"/>
          <p:nvPr userDrawn="1"/>
        </p:nvSpPr>
        <p:spPr>
          <a:xfrm>
            <a:off x="573091" y="3829450"/>
            <a:ext cx="2209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20426E"/>
                </a:solidFill>
                <a:latin typeface="DB Neo Screen Head Black" pitchFamily="2" charset="0"/>
              </a:rPr>
              <a:t>Controlling/</a:t>
            </a:r>
            <a:br>
              <a:rPr lang="de-DE">
                <a:solidFill>
                  <a:srgbClr val="20426E"/>
                </a:solidFill>
                <a:latin typeface="DB Neo Screen Head Black" pitchFamily="2" charset="0"/>
              </a:rPr>
            </a:br>
            <a:r>
              <a:rPr lang="de-DE">
                <a:solidFill>
                  <a:srgbClr val="20426E"/>
                </a:solidFill>
                <a:latin typeface="DB Neo Screen Head Black" pitchFamily="2" charset="0"/>
              </a:rPr>
              <a:t>Konfliktberatung: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B25ECFE7-45A1-9D7C-1C41-DC784DC5F23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15939" y="4371975"/>
            <a:ext cx="2609453" cy="1205647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1800">
                <a:solidFill>
                  <a:srgbClr val="EB891B"/>
                </a:solidFill>
                <a:latin typeface="DB Neo Screen Head Black" pitchFamily="2" charset="0"/>
              </a:defRPr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de-DE"/>
              <a:t>Bearbeiter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DBA526E6-2936-C3EF-4ED9-DCE2895C5313}"/>
              </a:ext>
            </a:extLst>
          </p:cNvPr>
          <p:cNvSpPr/>
          <p:nvPr userDrawn="1"/>
        </p:nvSpPr>
        <p:spPr>
          <a:xfrm>
            <a:off x="6458744" y="1420305"/>
            <a:ext cx="4895056" cy="4154398"/>
          </a:xfrm>
          <a:prstGeom prst="roundRect">
            <a:avLst>
              <a:gd name="adj" fmla="val 5444"/>
            </a:avLst>
          </a:prstGeom>
          <a:solidFill>
            <a:srgbClr val="FFFFFF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21426D">
                <a:alpha val="43000"/>
              </a:srgbClr>
            </a:outerShdw>
          </a:effectLst>
        </p:spPr>
        <p:txBody>
          <a:bodyPr rtlCol="0" anchor="ctr"/>
          <a:lstStyle/>
          <a:p>
            <a:pPr lvl="0"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6BB5E82-B3F1-3A0B-3E98-9A49D286BBF4}"/>
              </a:ext>
            </a:extLst>
          </p:cNvPr>
          <p:cNvSpPr txBox="1"/>
          <p:nvPr userDrawn="1"/>
        </p:nvSpPr>
        <p:spPr>
          <a:xfrm>
            <a:off x="6515894" y="1472133"/>
            <a:ext cx="185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20426E"/>
                </a:solidFill>
                <a:latin typeface="DB Neo Screen Head Black" pitchFamily="2" charset="0"/>
              </a:rPr>
              <a:t>Perspektive:</a:t>
            </a:r>
          </a:p>
        </p:txBody>
      </p:sp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FBCA5709-EDF9-E4A6-E50F-DA71D948943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458743" y="1841464"/>
            <a:ext cx="4895056" cy="3736157"/>
          </a:xfrm>
          <a:prstGeom prst="roundRect">
            <a:avLst>
              <a:gd name="adj" fmla="val 5434"/>
            </a:avLst>
          </a:prstGeom>
          <a:noFill/>
          <a:ln>
            <a:noFill/>
          </a:ln>
          <a:effectLst/>
        </p:spPr>
        <p:txBody>
          <a:bodyPr vert="horz" lIns="91440" tIns="45720" rIns="91440" bIns="45720" numCol="1" rtlCol="0">
            <a:norm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800" b="1">
                <a:solidFill>
                  <a:srgbClr val="20426E"/>
                </a:solidFill>
                <a:latin typeface="DB Neo Office" pitchFamily="2" charset="0"/>
              </a:defRPr>
            </a:lvl1pPr>
            <a:lvl2pPr>
              <a:lnSpc>
                <a:spcPct val="150000"/>
              </a:lnSpc>
              <a:defRPr sz="16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  <a:br>
              <a:rPr lang="de-DE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107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0D142-6096-6342-71B5-0FE5B75A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AEB7CE-C96B-7417-2148-D1D8FF51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354C0A-C81B-CDC5-8F02-AB1A5DEC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E3E34D-A5B3-90E4-705E-8E2751B9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7E0D75-E2F2-FD88-95EB-B1818960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6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5DA060-A268-E14D-E3F9-C3CB0DE1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85B7E4-38C0-45BF-FC36-4E39E93AC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C54C5E-2511-3B92-488B-6D5524880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331017-B5DD-DAC8-9031-67B68299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6F3615-FDAD-1C0C-4F16-A3281CA4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0CB80A-DFDF-28A7-F2C0-2BD43EA5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13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17DCE5-23CD-B425-A721-B76ECF3C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9DF858-1742-A07E-E1D2-50FE70540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005587-EA64-5D95-B796-E35253376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B9E0E3-78F6-161A-44F7-F52A82388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05C650-6E98-2878-19EC-62E7AF182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7FBC3A-F67E-6F57-6C41-B124329E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B93DBE-211E-C43C-E34E-7F545291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E19FCD-EEEA-7D57-42A1-DEE4AA2E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2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E91F3-2BD9-CDD1-F556-349E4A1B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FBA9904-0467-F063-FD0F-48A72D69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EAA27C-CBFB-9466-9767-4F162D94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D30418-99E6-7592-B992-1DFEC78E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9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F021CB6-377C-E606-E174-8037ED355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898" y="6492874"/>
            <a:ext cx="677778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fld id="{2D383119-3C41-4AAD-8A7E-11F974FECF2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75B64F73-7147-DD0A-412E-D80A6DC0D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r>
              <a:rPr lang="de-DE"/>
              <a:t>BIM-Fachtagung - BIM trifft Bahnsteig 30.09.2026</a:t>
            </a:r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EA4AF71B-D3F6-6358-3F9B-D169ABD6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6"/>
            <a:ext cx="10837862" cy="596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FC99D6A-DA0E-B302-09EA-4D900C0280F2}"/>
              </a:ext>
            </a:extLst>
          </p:cNvPr>
          <p:cNvCxnSpPr>
            <a:cxnSpLocks/>
          </p:cNvCxnSpPr>
          <p:nvPr userDrawn="1"/>
        </p:nvCxnSpPr>
        <p:spPr>
          <a:xfrm>
            <a:off x="669129" y="958849"/>
            <a:ext cx="578646" cy="0"/>
          </a:xfrm>
          <a:prstGeom prst="line">
            <a:avLst/>
          </a:prstGeom>
          <a:ln w="5715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490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 userDrawn="1">
          <p15:clr>
            <a:srgbClr val="FBAE40"/>
          </p15:clr>
        </p15:guide>
        <p15:guide id="2" pos="3522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13C094-33E0-2F28-1BBA-3D238B0E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FECB8F-7212-8EBD-8303-BC3B05D2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F09024-0C38-6EA9-ADF2-B9862D509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03C845-C6FD-CD1F-5148-86E46881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3DF94B-1CA3-A743-0C88-7E79B365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11E32B-04AB-83CA-4FE6-759D6F3B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290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0DAC1-3D1B-7E00-37F2-ABF9BE7C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273B0C3-D271-0A09-2FCB-DC94427CB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A63A30-2805-D53E-610A-B0A97FE32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2F3E00-0FEA-550F-A550-DBE26ED3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0AF70C-9CF3-CAB4-D571-23B55B5E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8F622B-E852-680D-7BBA-57EE257F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5781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55136-1187-DB7E-76CA-0C3D0882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DC4E50-E099-4A1A-3767-ED77F521E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2C810C-7F19-63BB-B87D-43E9EEDE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F5CC36-085D-B1FC-6754-ABCF64CC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D3D750-48AA-2616-96EE-63A39E95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3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EC8253E-E68F-12CA-94D1-777586378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139408-4DD5-9967-B51A-3CA38A1E5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94B584-7BEE-DA0B-5BAF-447671DC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58F810-C404-462D-E12F-206AC755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EC1603-D3D8-0916-AAA7-6245D8C7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898" y="6356350"/>
            <a:ext cx="677778" cy="365125"/>
          </a:xfrm>
          <a:prstGeom prst="rect">
            <a:avLst/>
          </a:prstGeom>
        </p:spPr>
        <p:txBody>
          <a:bodyPr/>
          <a:lstStyle/>
          <a:p>
            <a:fld id="{2D383119-3C41-4AAD-8A7E-11F974FECF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919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D2E77C94-8FCF-43D1-86B1-9829BD0D2922}"/>
              </a:ext>
            </a:extLst>
          </p:cNvPr>
          <p:cNvSpPr txBox="1"/>
          <p:nvPr userDrawn="1"/>
        </p:nvSpPr>
        <p:spPr>
          <a:xfrm>
            <a:off x="678860" y="6503500"/>
            <a:ext cx="1400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Mailänder </a:t>
            </a:r>
            <a:r>
              <a:rPr lang="de-DE" sz="800" err="1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</a:t>
            </a:r>
            <a:r>
              <a:rPr lang="de-DE" sz="80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2020 </a:t>
            </a:r>
          </a:p>
        </p:txBody>
      </p:sp>
      <p:sp>
        <p:nvSpPr>
          <p:cNvPr id="30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52206" y="1504505"/>
            <a:ext cx="5983543" cy="4520057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400" b="1">
                <a:solidFill>
                  <a:srgbClr val="2142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>
                <a:solidFill>
                  <a:srgbClr val="21426D"/>
                </a:solidFill>
              </a:defRPr>
            </a:lvl5pPr>
          </a:lstStyle>
          <a:p>
            <a:pPr lvl="0"/>
            <a:r>
              <a:rPr lang="de-DE"/>
              <a:t>Genaue Bezeichnung des Projekts</a:t>
            </a:r>
          </a:p>
          <a:p>
            <a:pPr lvl="0"/>
            <a:endParaRPr lang="de-DE"/>
          </a:p>
          <a:p>
            <a:pPr lvl="4"/>
            <a:endParaRPr lang="de-DE"/>
          </a:p>
          <a:p>
            <a:pPr lvl="4"/>
            <a:endParaRPr lang="de-DE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1749" y="2060575"/>
            <a:ext cx="4265613" cy="39639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rgbClr val="2142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Hier Projektbild einfügen</a:t>
            </a:r>
          </a:p>
        </p:txBody>
      </p:sp>
    </p:spTree>
    <p:extLst>
      <p:ext uri="{BB962C8B-B14F-4D97-AF65-F5344CB8AC3E}">
        <p14:creationId xmlns:p14="http://schemas.microsoft.com/office/powerpoint/2010/main" val="45681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51CB94-37D2-A58A-982B-8244D3881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6"/>
            <a:ext cx="10837862" cy="596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F20A6B-FF1C-0D11-092C-20430D833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125538"/>
            <a:ext cx="10837862" cy="5111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E215FC-C0B6-0F81-8A36-2B11B171345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97"/>
          <a:stretch/>
        </p:blipFill>
        <p:spPr>
          <a:xfrm>
            <a:off x="11478449" y="365125"/>
            <a:ext cx="449230" cy="421390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7B8DE20-1BC7-50FB-AEC0-041EDFF109ED}"/>
              </a:ext>
            </a:extLst>
          </p:cNvPr>
          <p:cNvCxnSpPr>
            <a:cxnSpLocks/>
          </p:cNvCxnSpPr>
          <p:nvPr userDrawn="1"/>
        </p:nvCxnSpPr>
        <p:spPr>
          <a:xfrm>
            <a:off x="11546679" y="6492874"/>
            <a:ext cx="381000" cy="0"/>
          </a:xfrm>
          <a:prstGeom prst="line">
            <a:avLst/>
          </a:prstGeom>
          <a:ln w="5715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89F348A-00BC-3014-1521-E4216784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898" y="6492874"/>
            <a:ext cx="677778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fld id="{2D383119-3C41-4AAD-8A7E-11F974FECF2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4A9DCB49-6575-B250-F465-14F22EF65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20426E"/>
                </a:solidFill>
                <a:latin typeface="DB Neo Screen Head Black" pitchFamily="2" charset="0"/>
              </a:defRPr>
            </a:lvl1pPr>
          </a:lstStyle>
          <a:p>
            <a:r>
              <a:rPr lang="de-DE"/>
              <a:t>BIM-Fachtagung - BIM trifft Bahnsteig 30.09.2026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B87822-9EF7-50C2-3428-75C7E6C1A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33666" y="386820"/>
            <a:ext cx="171180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4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20426E"/>
          </a:solidFill>
          <a:latin typeface="DB Neo Screen Head Black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B891B"/>
        </a:buClr>
        <a:buFont typeface="Wingdings" panose="05000000000000000000" pitchFamily="2" charset="2"/>
        <a:buChar char="§"/>
        <a:defRPr sz="2800" kern="1200">
          <a:solidFill>
            <a:srgbClr val="20426E"/>
          </a:solidFill>
          <a:latin typeface="DB Neo Office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B891B"/>
        </a:buClr>
        <a:buFont typeface="Wingdings" panose="05000000000000000000" pitchFamily="2" charset="2"/>
        <a:buChar char="§"/>
        <a:defRPr sz="2400" kern="1200">
          <a:solidFill>
            <a:srgbClr val="20426E"/>
          </a:solidFill>
          <a:latin typeface="DB Neo Office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B891B"/>
        </a:buClr>
        <a:buFont typeface="Wingdings" panose="05000000000000000000" pitchFamily="2" charset="2"/>
        <a:buChar char="§"/>
        <a:defRPr sz="2000" kern="1200">
          <a:solidFill>
            <a:srgbClr val="20426E"/>
          </a:solidFill>
          <a:latin typeface="DB Neo Office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B891B"/>
        </a:buClr>
        <a:buFont typeface="Wingdings" panose="05000000000000000000" pitchFamily="2" charset="2"/>
        <a:buChar char="§"/>
        <a:defRPr sz="1800" kern="1200">
          <a:solidFill>
            <a:srgbClr val="20426E"/>
          </a:solidFill>
          <a:latin typeface="DB Neo Office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B891B"/>
        </a:buClr>
        <a:buFont typeface="Wingdings" panose="05000000000000000000" pitchFamily="2" charset="2"/>
        <a:buChar char="§"/>
        <a:defRPr sz="1800" kern="1200">
          <a:solidFill>
            <a:srgbClr val="20426E"/>
          </a:solidFill>
          <a:latin typeface="DB Neo Office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151" userDrawn="1">
          <p15:clr>
            <a:srgbClr val="F26B43"/>
          </p15:clr>
        </p15:guide>
        <p15:guide id="5" orient="horz" pos="3838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svg"/><Relationship Id="rId5" Type="http://schemas.openxmlformats.org/officeDocument/2006/relationships/image" Target="../media/image18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10" Type="http://schemas.openxmlformats.org/officeDocument/2006/relationships/image" Target="../media/image8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sv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hyperlink" Target="Medien1.mp4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hyperlink" Target="Medien2.mp4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u.openspace.ai/projects/sCIRtwCmSYC5fCfQSbdJbw" TargetMode="External"/><Relationship Id="rId5" Type="http://schemas.openxmlformats.org/officeDocument/2006/relationships/image" Target="../media/image8.svg"/><Relationship Id="rId4" Type="http://schemas.openxmlformats.org/officeDocument/2006/relationships/hyperlink" Target="OpenSpace_Video.mp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6E3-1F2E-9D30-CB51-360A1F2E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9AE3EA5D-6F8F-609A-2B53-778CF79595BA}"/>
              </a:ext>
            </a:extLst>
          </p:cNvPr>
          <p:cNvSpPr/>
          <p:nvPr/>
        </p:nvSpPr>
        <p:spPr>
          <a:xfrm>
            <a:off x="9389424" y="0"/>
            <a:ext cx="2802576" cy="6867888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185541D-75C4-E276-F6AA-43548DDE43C6}"/>
              </a:ext>
            </a:extLst>
          </p:cNvPr>
          <p:cNvSpPr/>
          <p:nvPr/>
        </p:nvSpPr>
        <p:spPr>
          <a:xfrm>
            <a:off x="0" y="0"/>
            <a:ext cx="9389424" cy="6858000"/>
          </a:xfrm>
          <a:prstGeom prst="rect">
            <a:avLst/>
          </a:prstGeom>
          <a:solidFill>
            <a:srgbClr val="20426E"/>
          </a:solidFill>
          <a:ln>
            <a:solidFill>
              <a:srgbClr val="2042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6CC6549-3252-CA10-B6C9-E91567C57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46099" y="204985"/>
            <a:ext cx="2721966" cy="684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76BDF8-15C1-531D-2089-14254A697F71}"/>
              </a:ext>
            </a:extLst>
          </p:cNvPr>
          <p:cNvSpPr txBox="1">
            <a:spLocks noChangeAspect="1"/>
          </p:cNvSpPr>
          <p:nvPr/>
        </p:nvSpPr>
        <p:spPr>
          <a:xfrm>
            <a:off x="859970" y="243447"/>
            <a:ext cx="2880000" cy="63596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</a:extLst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891B"/>
              </a:buClr>
              <a:buFont typeface="Wingdings" panose="05000000000000000000" pitchFamily="2" charset="2"/>
              <a:buNone/>
              <a:defRPr sz="1000" kern="1200">
                <a:solidFill>
                  <a:schemeClr val="bg1"/>
                </a:solidFill>
                <a:latin typeface="DB Neo Office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C719A07-7F57-25C4-10FC-7BC4724D649E}"/>
              </a:ext>
            </a:extLst>
          </p:cNvPr>
          <p:cNvSpPr txBox="1"/>
          <p:nvPr/>
        </p:nvSpPr>
        <p:spPr>
          <a:xfrm>
            <a:off x="745484" y="1423827"/>
            <a:ext cx="659687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BIM trifft Bahnsteig</a:t>
            </a:r>
          </a:p>
          <a:p>
            <a:endParaRPr lang="de-DE" sz="5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de-DE" sz="2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BIM-Modell zur Baufortschrittskontrolle</a:t>
            </a:r>
          </a:p>
          <a:p>
            <a:r>
              <a:rPr lang="de-DE" sz="2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 Roigheim</a:t>
            </a: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30.09.2026 – BIM-Fachtagung Berlin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CFB6095-A7C8-FD9B-75AA-E4E728A7EDEF}"/>
              </a:ext>
            </a:extLst>
          </p:cNvPr>
          <p:cNvCxnSpPr>
            <a:cxnSpLocks/>
          </p:cNvCxnSpPr>
          <p:nvPr/>
        </p:nvCxnSpPr>
        <p:spPr>
          <a:xfrm>
            <a:off x="925802" y="3158245"/>
            <a:ext cx="930158" cy="0"/>
          </a:xfrm>
          <a:prstGeom prst="line">
            <a:avLst/>
          </a:prstGeom>
          <a:ln w="12700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fik 21">
            <a:extLst>
              <a:ext uri="{FF2B5EF4-FFF2-40B4-BE49-F238E27FC236}">
                <a16:creationId xmlns:a16="http://schemas.microsoft.com/office/drawing/2014/main" id="{4AF8CBCF-8D92-A5A5-210D-D277D7088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5967567" y="9888"/>
            <a:ext cx="3429000" cy="685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6415551-EFF4-4152-C1B1-C30CA42ED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1"/>
          <a:stretch>
            <a:fillRect/>
          </a:stretch>
        </p:blipFill>
        <p:spPr>
          <a:xfrm>
            <a:off x="9396567" y="552627"/>
            <a:ext cx="2717196" cy="544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1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C1DA-C0A3-27E5-9524-F8345F5F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5856EA-7621-B5D8-F1FD-A91FD62A7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16794D-FF9E-A81A-58D2-1CEAF54E1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87C0E78-79C4-87BD-D19C-FD94F8F8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A8769BA-75FA-FFAE-FDF6-AFFCD6C7A3A3}"/>
              </a:ext>
            </a:extLst>
          </p:cNvPr>
          <p:cNvSpPr/>
          <p:nvPr/>
        </p:nvSpPr>
        <p:spPr>
          <a:xfrm>
            <a:off x="6632146" y="1506745"/>
            <a:ext cx="4287488" cy="918748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6D9F385-AF7B-AD3A-DF09-E60CF7A7C8CF}"/>
              </a:ext>
            </a:extLst>
          </p:cNvPr>
          <p:cNvSpPr/>
          <p:nvPr/>
        </p:nvSpPr>
        <p:spPr>
          <a:xfrm>
            <a:off x="6632146" y="3099166"/>
            <a:ext cx="4287488" cy="918748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0BA1C7D3-610A-5591-9D1C-1EDDD7BBB785}"/>
              </a:ext>
            </a:extLst>
          </p:cNvPr>
          <p:cNvSpPr/>
          <p:nvPr/>
        </p:nvSpPr>
        <p:spPr>
          <a:xfrm>
            <a:off x="6632146" y="4691587"/>
            <a:ext cx="4287488" cy="918748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5859536-83D9-A718-C89E-10BCD4CDAFD7}"/>
              </a:ext>
            </a:extLst>
          </p:cNvPr>
          <p:cNvSpPr/>
          <p:nvPr/>
        </p:nvSpPr>
        <p:spPr>
          <a:xfrm>
            <a:off x="1140778" y="1506745"/>
            <a:ext cx="4287488" cy="918748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FEDE3807-2F22-17CD-598D-A80EC41196D9}"/>
              </a:ext>
            </a:extLst>
          </p:cNvPr>
          <p:cNvSpPr txBox="1">
            <a:spLocks/>
          </p:cNvSpPr>
          <p:nvPr/>
        </p:nvSpPr>
        <p:spPr>
          <a:xfrm>
            <a:off x="1980828" y="1506745"/>
            <a:ext cx="3443350" cy="91874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>
                <a:latin typeface="DB Neo Screen Head Black" pitchFamily="2" charset="0"/>
              </a:rPr>
              <a:t>1. Vorstellung</a:t>
            </a:r>
            <a:endParaRPr lang="de-DE" sz="1400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F6F70C89-3285-23E5-301E-28A9F4A3282F}"/>
              </a:ext>
            </a:extLst>
          </p:cNvPr>
          <p:cNvSpPr/>
          <p:nvPr/>
        </p:nvSpPr>
        <p:spPr>
          <a:xfrm>
            <a:off x="1140778" y="3099166"/>
            <a:ext cx="4287488" cy="918748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1A427C6-F1C5-51BD-B536-87FDF6D0C0E1}"/>
              </a:ext>
            </a:extLst>
          </p:cNvPr>
          <p:cNvSpPr/>
          <p:nvPr/>
        </p:nvSpPr>
        <p:spPr>
          <a:xfrm>
            <a:off x="1140778" y="4691587"/>
            <a:ext cx="4287488" cy="918748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EDEBE3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40" name="Textplatzhalter 2">
            <a:extLst>
              <a:ext uri="{FF2B5EF4-FFF2-40B4-BE49-F238E27FC236}">
                <a16:creationId xmlns:a16="http://schemas.microsoft.com/office/drawing/2014/main" id="{CDE6A4D9-99FA-BA09-EAA9-6D7CC6CD3D71}"/>
              </a:ext>
            </a:extLst>
          </p:cNvPr>
          <p:cNvSpPr txBox="1">
            <a:spLocks/>
          </p:cNvSpPr>
          <p:nvPr/>
        </p:nvSpPr>
        <p:spPr>
          <a:xfrm>
            <a:off x="1980828" y="3099166"/>
            <a:ext cx="3443350" cy="91874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>
                <a:latin typeface="DB Neo Screen Head Black" pitchFamily="2" charset="0"/>
              </a:rPr>
              <a:t>2. Projektgrundlagen</a:t>
            </a:r>
            <a:endParaRPr lang="de-DE" sz="1400" dirty="0"/>
          </a:p>
        </p:txBody>
      </p:sp>
      <p:sp>
        <p:nvSpPr>
          <p:cNvPr id="42" name="Textplatzhalter 2">
            <a:extLst>
              <a:ext uri="{FF2B5EF4-FFF2-40B4-BE49-F238E27FC236}">
                <a16:creationId xmlns:a16="http://schemas.microsoft.com/office/drawing/2014/main" id="{585E1CE6-D27F-E240-5F63-157E6C63A26F}"/>
              </a:ext>
            </a:extLst>
          </p:cNvPr>
          <p:cNvSpPr txBox="1">
            <a:spLocks/>
          </p:cNvSpPr>
          <p:nvPr/>
        </p:nvSpPr>
        <p:spPr>
          <a:xfrm>
            <a:off x="1980828" y="4691587"/>
            <a:ext cx="3443350" cy="91874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>
                <a:latin typeface="DB Neo Screen Head Black" pitchFamily="2" charset="0"/>
              </a:rPr>
              <a:t>3. BIM im Projekt</a:t>
            </a:r>
            <a:endParaRPr lang="de-DE" sz="1400" dirty="0"/>
          </a:p>
        </p:txBody>
      </p:sp>
      <p:sp>
        <p:nvSpPr>
          <p:cNvPr id="48" name="Textplatzhalter 2">
            <a:extLst>
              <a:ext uri="{FF2B5EF4-FFF2-40B4-BE49-F238E27FC236}">
                <a16:creationId xmlns:a16="http://schemas.microsoft.com/office/drawing/2014/main" id="{6F612D4F-A2CC-7886-9FB8-929FC12FE631}"/>
              </a:ext>
            </a:extLst>
          </p:cNvPr>
          <p:cNvSpPr txBox="1">
            <a:spLocks/>
          </p:cNvSpPr>
          <p:nvPr/>
        </p:nvSpPr>
        <p:spPr>
          <a:xfrm>
            <a:off x="7472196" y="4691587"/>
            <a:ext cx="3443350" cy="91874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>
                <a:latin typeface="DB Neo Screen Head Black" pitchFamily="2" charset="0"/>
              </a:rPr>
              <a:t>6. </a:t>
            </a:r>
            <a:r>
              <a:rPr lang="de-DE" sz="2000" dirty="0" err="1">
                <a:latin typeface="DB Neo Screen Head Black" pitchFamily="2" charset="0"/>
              </a:rPr>
              <a:t>OpenSpace</a:t>
            </a:r>
            <a:endParaRPr lang="de-DE" sz="1400" dirty="0"/>
          </a:p>
        </p:txBody>
      </p:sp>
      <p:sp>
        <p:nvSpPr>
          <p:cNvPr id="50" name="Textplatzhalter 2">
            <a:extLst>
              <a:ext uri="{FF2B5EF4-FFF2-40B4-BE49-F238E27FC236}">
                <a16:creationId xmlns:a16="http://schemas.microsoft.com/office/drawing/2014/main" id="{7678E403-C44D-ADA7-33CB-97FE87C9D904}"/>
              </a:ext>
            </a:extLst>
          </p:cNvPr>
          <p:cNvSpPr txBox="1">
            <a:spLocks/>
          </p:cNvSpPr>
          <p:nvPr/>
        </p:nvSpPr>
        <p:spPr>
          <a:xfrm>
            <a:off x="7472196" y="3099166"/>
            <a:ext cx="3443350" cy="91874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>
                <a:latin typeface="DB Neo Screen Head Black" pitchFamily="2" charset="0"/>
              </a:rPr>
              <a:t>5. Baufortschrittsmodell</a:t>
            </a:r>
            <a:endParaRPr lang="de-DE" sz="1400" dirty="0"/>
          </a:p>
        </p:txBody>
      </p:sp>
      <p:sp>
        <p:nvSpPr>
          <p:cNvPr id="52" name="Textplatzhalter 2">
            <a:extLst>
              <a:ext uri="{FF2B5EF4-FFF2-40B4-BE49-F238E27FC236}">
                <a16:creationId xmlns:a16="http://schemas.microsoft.com/office/drawing/2014/main" id="{134CC25F-71F4-4C31-91E6-1878A86C9238}"/>
              </a:ext>
            </a:extLst>
          </p:cNvPr>
          <p:cNvSpPr txBox="1">
            <a:spLocks/>
          </p:cNvSpPr>
          <p:nvPr/>
        </p:nvSpPr>
        <p:spPr>
          <a:xfrm>
            <a:off x="7472196" y="1506745"/>
            <a:ext cx="3443350" cy="918748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>
                <a:latin typeface="DB Neo Screen Head Black" pitchFamily="2" charset="0"/>
              </a:rPr>
              <a:t>4. Digitales Bauschild</a:t>
            </a:r>
            <a:endParaRPr lang="de-DE" sz="1400" dirty="0"/>
          </a:p>
        </p:txBody>
      </p:sp>
      <p:pic>
        <p:nvPicPr>
          <p:cNvPr id="9" name="!!Vorstellung" descr="Bauarbeiter mit einfarbiger Füllung">
            <a:extLst>
              <a:ext uri="{FF2B5EF4-FFF2-40B4-BE49-F238E27FC236}">
                <a16:creationId xmlns:a16="http://schemas.microsoft.com/office/drawing/2014/main" id="{5CFC20D4-5CCB-D98C-A66A-5F2186A23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2366" y="1613932"/>
            <a:ext cx="704373" cy="704373"/>
          </a:xfrm>
          <a:prstGeom prst="rect">
            <a:avLst/>
          </a:prstGeom>
        </p:spPr>
      </p:pic>
      <p:pic>
        <p:nvPicPr>
          <p:cNvPr id="11" name="!!Grafik 6" descr="Smartphone mit einfarbiger Füllung">
            <a:extLst>
              <a:ext uri="{FF2B5EF4-FFF2-40B4-BE49-F238E27FC236}">
                <a16:creationId xmlns:a16="http://schemas.microsoft.com/office/drawing/2014/main" id="{10E82AE3-765B-973F-84C0-84480AFD5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688" y="1613932"/>
            <a:ext cx="704373" cy="704373"/>
          </a:xfrm>
          <a:prstGeom prst="rect">
            <a:avLst/>
          </a:prstGeom>
        </p:spPr>
      </p:pic>
      <p:pic>
        <p:nvPicPr>
          <p:cNvPr id="14" name="!!Grafik 8" descr="Blaupause mit einfarbiger Füllung">
            <a:extLst>
              <a:ext uri="{FF2B5EF4-FFF2-40B4-BE49-F238E27FC236}">
                <a16:creationId xmlns:a16="http://schemas.microsoft.com/office/drawing/2014/main" id="{FBF9D2E3-5891-BFD8-BC33-4A0AE82BE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2366" y="4767009"/>
            <a:ext cx="704373" cy="704373"/>
          </a:xfrm>
          <a:prstGeom prst="rect">
            <a:avLst/>
          </a:prstGeom>
        </p:spPr>
      </p:pic>
      <p:pic>
        <p:nvPicPr>
          <p:cNvPr id="17" name="!!Grafik 10" descr="Gebäudesteinmauer mit einfarbiger Füllung">
            <a:extLst>
              <a:ext uri="{FF2B5EF4-FFF2-40B4-BE49-F238E27FC236}">
                <a16:creationId xmlns:a16="http://schemas.microsoft.com/office/drawing/2014/main" id="{B1A66D6A-7EA6-F5C2-00CE-F69CFB1B8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688" y="3206353"/>
            <a:ext cx="704373" cy="704373"/>
          </a:xfrm>
          <a:prstGeom prst="rect">
            <a:avLst/>
          </a:prstGeom>
        </p:spPr>
      </p:pic>
      <p:pic>
        <p:nvPicPr>
          <p:cNvPr id="22" name="!!Grafik 12" descr="Kamera mit einfarbiger Füllung">
            <a:extLst>
              <a:ext uri="{FF2B5EF4-FFF2-40B4-BE49-F238E27FC236}">
                <a16:creationId xmlns:a16="http://schemas.microsoft.com/office/drawing/2014/main" id="{70653DFE-5A5B-EAE5-9942-42D512B72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9410" y="4795048"/>
            <a:ext cx="704373" cy="704373"/>
          </a:xfrm>
          <a:prstGeom prst="rect">
            <a:avLst/>
          </a:prstGeom>
        </p:spPr>
      </p:pic>
      <p:pic>
        <p:nvPicPr>
          <p:cNvPr id="25" name="!!Grafik 14" descr="Prüfliste mit einfarbiger Füllung">
            <a:extLst>
              <a:ext uri="{FF2B5EF4-FFF2-40B4-BE49-F238E27FC236}">
                <a16:creationId xmlns:a16="http://schemas.microsoft.com/office/drawing/2014/main" id="{4DCAD684-277D-6957-97A5-B88206110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2366" y="3206353"/>
            <a:ext cx="704373" cy="70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484F-C487-03A0-ACF0-A5A51419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1D4EC61-2D34-F75A-7E4B-F7B1F8D1B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99A2E20-0109-6CF5-D282-353DEDFE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5125"/>
            <a:ext cx="10837863" cy="596900"/>
          </a:xfrm>
        </p:spPr>
        <p:txBody>
          <a:bodyPr/>
          <a:lstStyle/>
          <a:p>
            <a:r>
              <a:rPr lang="de-DE" dirty="0"/>
              <a:t>Marcel Steek </a:t>
            </a:r>
            <a:r>
              <a:rPr lang="de-DE" sz="2000" dirty="0">
                <a:solidFill>
                  <a:srgbClr val="EB891B"/>
                </a:solidFill>
              </a:rPr>
              <a:t>Projektleitung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4B9D67F-4BA7-D5F3-6B01-C595BE80A915}"/>
              </a:ext>
            </a:extLst>
          </p:cNvPr>
          <p:cNvSpPr/>
          <p:nvPr/>
        </p:nvSpPr>
        <p:spPr>
          <a:xfrm>
            <a:off x="6317019" y="1269000"/>
            <a:ext cx="5040000" cy="4808390"/>
          </a:xfrm>
          <a:prstGeom prst="roundRect">
            <a:avLst>
              <a:gd name="adj" fmla="val 7242"/>
            </a:avLst>
          </a:prstGeom>
          <a:solidFill>
            <a:srgbClr val="F7F6F2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C29E13A-2154-BF6E-DF84-15FFBBD5A22D}"/>
              </a:ext>
            </a:extLst>
          </p:cNvPr>
          <p:cNvSpPr txBox="1">
            <a:spLocks/>
          </p:cNvSpPr>
          <p:nvPr/>
        </p:nvSpPr>
        <p:spPr>
          <a:xfrm>
            <a:off x="6317019" y="1269000"/>
            <a:ext cx="5040000" cy="4808390"/>
          </a:xfrm>
          <a:prstGeom prst="roundRect">
            <a:avLst>
              <a:gd name="adj" fmla="val 6418"/>
            </a:avLst>
          </a:prstGeom>
          <a:noFill/>
          <a:ln>
            <a:solidFill>
              <a:srgbClr val="DCD9CF"/>
            </a:solidFill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Baumanagement RB Südwest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Portfoliomanagement (M)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b="1" dirty="0">
                <a:solidFill>
                  <a:srgbClr val="EB891B"/>
                </a:solidFill>
              </a:rPr>
              <a:t>Verkehrsstationen (V) - V.IO-SW-IV 22</a:t>
            </a:r>
          </a:p>
          <a:p>
            <a:pPr lvl="1">
              <a:lnSpc>
                <a:spcPct val="15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EB891B"/>
                </a:solidFill>
              </a:rPr>
              <a:t>Verkehrsstationen 2.2 Bahnhofsmanagements Karlsruhe, Freiburg und Mannheim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Technische Anlagen (T)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Hoch- und Ausbau (H)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Bauüberwachung (Ü)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Technische Experten/Wissensmanagement (W)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C7D1C337-FBCF-8126-5FA5-82F05D3CA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825E2F-B2C1-9D61-28CF-6AE927E2B046}"/>
              </a:ext>
            </a:extLst>
          </p:cNvPr>
          <p:cNvSpPr/>
          <p:nvPr/>
        </p:nvSpPr>
        <p:spPr>
          <a:xfrm>
            <a:off x="623888" y="1273104"/>
            <a:ext cx="5040000" cy="2159999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C98EC1E-A631-98EC-1E1E-25284855A76D}"/>
              </a:ext>
            </a:extLst>
          </p:cNvPr>
          <p:cNvSpPr txBox="1"/>
          <p:nvPr/>
        </p:nvSpPr>
        <p:spPr>
          <a:xfrm>
            <a:off x="2691549" y="1599409"/>
            <a:ext cx="2972339" cy="155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b="1" dirty="0">
                <a:solidFill>
                  <a:srgbClr val="20426E"/>
                </a:solidFill>
                <a:latin typeface="DB Neo Office" pitchFamily="2" charset="0"/>
              </a:rPr>
              <a:t>Telefon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0152 / 33346625</a:t>
            </a:r>
          </a:p>
          <a:p>
            <a:endParaRPr lang="de-DE" sz="1400" dirty="0">
              <a:solidFill>
                <a:srgbClr val="2142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b="1" dirty="0">
                <a:solidFill>
                  <a:srgbClr val="20426E"/>
                </a:solidFill>
                <a:latin typeface="DB Neo Office" pitchFamily="2" charset="0"/>
              </a:rPr>
              <a:t>E-Mail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Marcel.Steek@deutschebahn.com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1778F7C-520A-D404-841C-9C046A149303}"/>
              </a:ext>
            </a:extLst>
          </p:cNvPr>
          <p:cNvSpPr/>
          <p:nvPr/>
        </p:nvSpPr>
        <p:spPr>
          <a:xfrm>
            <a:off x="623888" y="3917391"/>
            <a:ext cx="5040000" cy="2159999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87C1A0C-C0F2-BA3D-B2FA-304553E095E2}"/>
              </a:ext>
            </a:extLst>
          </p:cNvPr>
          <p:cNvSpPr txBox="1">
            <a:spLocks/>
          </p:cNvSpPr>
          <p:nvPr/>
        </p:nvSpPr>
        <p:spPr>
          <a:xfrm>
            <a:off x="623888" y="3926233"/>
            <a:ext cx="5040000" cy="2159999"/>
          </a:xfrm>
          <a:prstGeom prst="roundRect">
            <a:avLst>
              <a:gd name="adj" fmla="val 10387"/>
            </a:avLst>
          </a:prstGeom>
          <a:noFill/>
          <a:ln>
            <a:solidFill>
              <a:srgbClr val="DCD9CF"/>
            </a:solidFill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Vita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Architektur-Studium 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Mitglied Architektenkammer RLP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Mehrjährige Berufserfahrung als Architekt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Technischer Projektleiter Verkehrsstationen</a:t>
            </a:r>
          </a:p>
        </p:txBody>
      </p:sp>
      <p:pic>
        <p:nvPicPr>
          <p:cNvPr id="6" name="Grafik 5" descr="Umschlag mit einfarbiger Füllung">
            <a:extLst>
              <a:ext uri="{FF2B5EF4-FFF2-40B4-BE49-F238E27FC236}">
                <a16:creationId xmlns:a16="http://schemas.microsoft.com/office/drawing/2014/main" id="{0F923FD7-D5F5-D994-8E7E-AD78BB653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8836" y="2491293"/>
            <a:ext cx="360000" cy="360000"/>
          </a:xfrm>
          <a:prstGeom prst="rect">
            <a:avLst/>
          </a:prstGeom>
        </p:spPr>
      </p:pic>
      <p:pic>
        <p:nvPicPr>
          <p:cNvPr id="10" name="Grafik 9" descr="Receiver mit einfarbiger Füllung">
            <a:extLst>
              <a:ext uri="{FF2B5EF4-FFF2-40B4-BE49-F238E27FC236}">
                <a16:creationId xmlns:a16="http://schemas.microsoft.com/office/drawing/2014/main" id="{0B4F6A78-77D4-D721-ED78-DF946DD5F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5836" y="1657264"/>
            <a:ext cx="306000" cy="30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81195D-80C6-9CC7-3615-8BB7CF278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06" y="1543372"/>
            <a:ext cx="1507661" cy="1672527"/>
          </a:xfrm>
          <a:prstGeom prst="rect">
            <a:avLst/>
          </a:prstGeom>
        </p:spPr>
      </p:pic>
      <p:pic>
        <p:nvPicPr>
          <p:cNvPr id="8" name="!!Vorstellung" descr="Bauarbeiter mit einfarbiger Füllung">
            <a:extLst>
              <a:ext uri="{FF2B5EF4-FFF2-40B4-BE49-F238E27FC236}">
                <a16:creationId xmlns:a16="http://schemas.microsoft.com/office/drawing/2014/main" id="{818D9178-6B87-F4B4-3EC3-242AFCD50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03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39F1-EAE4-C8DD-7815-367F20CC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01309E0-D401-53BB-B91F-6F13F31A4B50}"/>
              </a:ext>
            </a:extLst>
          </p:cNvPr>
          <p:cNvSpPr/>
          <p:nvPr/>
        </p:nvSpPr>
        <p:spPr>
          <a:xfrm>
            <a:off x="623888" y="1273103"/>
            <a:ext cx="5076825" cy="4804287"/>
          </a:xfrm>
          <a:prstGeom prst="roundRect">
            <a:avLst>
              <a:gd name="adj" fmla="val 6109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31EB6F9-FD06-09AB-2149-9A825A3E8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A4BDABA-42DF-A171-11EA-02C171C6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5125"/>
            <a:ext cx="10837863" cy="596900"/>
          </a:xfrm>
        </p:spPr>
        <p:txBody>
          <a:bodyPr>
            <a:normAutofit/>
          </a:bodyPr>
          <a:lstStyle/>
          <a:p>
            <a:r>
              <a:rPr lang="de-DE" dirty="0"/>
              <a:t>Verkehrsstationen (V) </a:t>
            </a:r>
            <a:r>
              <a:rPr lang="de-DE" sz="2000" dirty="0">
                <a:solidFill>
                  <a:srgbClr val="EB891B"/>
                </a:solidFill>
              </a:rPr>
              <a:t>V.IO-SW-IV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2FF75F4C-7F35-4008-B77A-987C3A0D7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25C84184-8C83-AF29-DAC1-3125456DA17A}"/>
              </a:ext>
            </a:extLst>
          </p:cNvPr>
          <p:cNvGrpSpPr/>
          <p:nvPr/>
        </p:nvGrpSpPr>
        <p:grpSpPr>
          <a:xfrm>
            <a:off x="971408" y="1518621"/>
            <a:ext cx="2737634" cy="4106452"/>
            <a:chOff x="4550915" y="1385667"/>
            <a:chExt cx="3138675" cy="4708013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38743184-E7E9-E313-CF34-CFFCDD0F1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50915" y="1385667"/>
              <a:ext cx="3138675" cy="470801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Textplatzhalter 1">
              <a:extLst>
                <a:ext uri="{FF2B5EF4-FFF2-40B4-BE49-F238E27FC236}">
                  <a16:creationId xmlns:a16="http://schemas.microsoft.com/office/drawing/2014/main" id="{EE026625-DC40-E9B8-6767-5E39A4FE2D0F}"/>
                </a:ext>
              </a:extLst>
            </p:cNvPr>
            <p:cNvSpPr txBox="1">
              <a:spLocks/>
            </p:cNvSpPr>
            <p:nvPr/>
          </p:nvSpPr>
          <p:spPr>
            <a:xfrm>
              <a:off x="5306339" y="4773135"/>
              <a:ext cx="1627826" cy="31226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20426E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Karlsruhe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74E60D2C-A29B-EEF1-A149-5B3564BEA382}"/>
                </a:ext>
              </a:extLst>
            </p:cNvPr>
            <p:cNvSpPr/>
            <p:nvPr/>
          </p:nvSpPr>
          <p:spPr>
            <a:xfrm>
              <a:off x="5236414" y="4844159"/>
              <a:ext cx="142393" cy="142393"/>
            </a:xfrm>
            <a:prstGeom prst="ellipse">
              <a:avLst/>
            </a:prstGeom>
            <a:solidFill>
              <a:srgbClr val="2042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0" cap="none" spc="0" normalizeH="0" baseline="0" noProof="0">
                <a:ln>
                  <a:noFill/>
                </a:ln>
                <a:solidFill>
                  <a:srgbClr val="264C7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feld 29">
            <a:extLst>
              <a:ext uri="{FF2B5EF4-FFF2-40B4-BE49-F238E27FC236}">
                <a16:creationId xmlns:a16="http://schemas.microsoft.com/office/drawing/2014/main" id="{3CBE1656-0FE7-FB9E-314F-4143B64CD9F5}"/>
              </a:ext>
            </a:extLst>
          </p:cNvPr>
          <p:cNvSpPr txBox="1"/>
          <p:nvPr/>
        </p:nvSpPr>
        <p:spPr>
          <a:xfrm>
            <a:off x="4036021" y="2338150"/>
            <a:ext cx="1794782" cy="254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b="1" dirty="0">
                <a:solidFill>
                  <a:srgbClr val="20426E"/>
                </a:solidFill>
                <a:latin typeface="DB Neo Office" pitchFamily="2" charset="0"/>
              </a:rPr>
              <a:t>Standort Stuttgart</a:t>
            </a:r>
            <a:br>
              <a:rPr lang="de-DE" sz="1200" b="1" dirty="0">
                <a:solidFill>
                  <a:srgbClr val="20426E"/>
                </a:solidFill>
                <a:latin typeface="DB Neo Office" pitchFamily="2" charset="0"/>
              </a:rPr>
            </a:b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Lautenschlagerstr. 20 70173 Stuttgart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endParaRPr lang="de-DE" sz="1200" b="1" dirty="0">
              <a:solidFill>
                <a:srgbClr val="20426E"/>
              </a:solidFill>
              <a:latin typeface="DB Neo Office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endParaRPr lang="de-DE" sz="1200" b="1" dirty="0">
              <a:solidFill>
                <a:srgbClr val="20426E"/>
              </a:solidFill>
              <a:latin typeface="DB Neo Office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endParaRPr lang="de-DE" sz="1200" b="1" dirty="0">
              <a:solidFill>
                <a:srgbClr val="20426E"/>
              </a:solidFill>
              <a:latin typeface="DB Neo Office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b="1" dirty="0">
                <a:solidFill>
                  <a:srgbClr val="20426E"/>
                </a:solidFill>
                <a:latin typeface="DB Neo Office" pitchFamily="2" charset="0"/>
              </a:rPr>
              <a:t>Standort Karlsruhe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Bahnhofsplatz 1</a:t>
            </a:r>
            <a:br>
              <a:rPr lang="de-DE" sz="1200" dirty="0">
                <a:solidFill>
                  <a:srgbClr val="20426E"/>
                </a:solidFill>
                <a:latin typeface="DB Neo Office" pitchFamily="2" charset="0"/>
              </a:rPr>
            </a:b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76131 Karlsruhe</a:t>
            </a:r>
          </a:p>
        </p:txBody>
      </p:sp>
      <p:sp>
        <p:nvSpPr>
          <p:cNvPr id="40" name="Textplatzhalter 1">
            <a:extLst>
              <a:ext uri="{FF2B5EF4-FFF2-40B4-BE49-F238E27FC236}">
                <a16:creationId xmlns:a16="http://schemas.microsoft.com/office/drawing/2014/main" id="{54B6A950-59E6-7079-6520-E669E03CB08A}"/>
              </a:ext>
            </a:extLst>
          </p:cNvPr>
          <p:cNvSpPr txBox="1">
            <a:spLocks/>
          </p:cNvSpPr>
          <p:nvPr/>
        </p:nvSpPr>
        <p:spPr>
          <a:xfrm>
            <a:off x="1829248" y="4665894"/>
            <a:ext cx="1222789" cy="4769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264C7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Stuttgart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1F2F12EA-6682-44E5-B7DD-08C78F09514D}"/>
              </a:ext>
            </a:extLst>
          </p:cNvPr>
          <p:cNvSpPr/>
          <p:nvPr/>
        </p:nvSpPr>
        <p:spPr>
          <a:xfrm>
            <a:off x="1768029" y="4738716"/>
            <a:ext cx="124199" cy="124199"/>
          </a:xfrm>
          <a:prstGeom prst="ellipse">
            <a:avLst/>
          </a:prstGeom>
          <a:solidFill>
            <a:srgbClr val="264C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800" b="0" i="0" u="none" strike="noStrike" kern="0" cap="none" spc="0" normalizeH="0" baseline="0" noProof="0">
              <a:ln>
                <a:noFill/>
              </a:ln>
              <a:solidFill>
                <a:srgbClr val="264C7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Grafik 45" descr="Gebäude mit einfarbiger Füllung">
            <a:extLst>
              <a:ext uri="{FF2B5EF4-FFF2-40B4-BE49-F238E27FC236}">
                <a16:creationId xmlns:a16="http://schemas.microsoft.com/office/drawing/2014/main" id="{9DA71F1B-48F8-3310-AEA3-06C322F0D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58336" y="2448137"/>
            <a:ext cx="360000" cy="360000"/>
          </a:xfrm>
          <a:prstGeom prst="rect">
            <a:avLst/>
          </a:prstGeom>
        </p:spPr>
      </p:pic>
      <p:pic>
        <p:nvPicPr>
          <p:cNvPr id="49" name="Grafik 48" descr="Gebäude mit einfarbiger Füllung">
            <a:extLst>
              <a:ext uri="{FF2B5EF4-FFF2-40B4-BE49-F238E27FC236}">
                <a16:creationId xmlns:a16="http://schemas.microsoft.com/office/drawing/2014/main" id="{B22DB001-EEFA-B0F4-0FA3-16715CFC7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58336" y="4103734"/>
            <a:ext cx="360000" cy="360000"/>
          </a:xfrm>
          <a:prstGeom prst="rect">
            <a:avLst/>
          </a:prstGeom>
        </p:spPr>
      </p:pic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DE160984-B7D7-E522-D8E8-198DD5D8B27C}"/>
              </a:ext>
            </a:extLst>
          </p:cNvPr>
          <p:cNvSpPr/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53" name="Textplatzhalter 2">
            <a:extLst>
              <a:ext uri="{FF2B5EF4-FFF2-40B4-BE49-F238E27FC236}">
                <a16:creationId xmlns:a16="http://schemas.microsoft.com/office/drawing/2014/main" id="{27F82F84-5F97-34D0-4F84-A85A9454DC1D}"/>
              </a:ext>
            </a:extLst>
          </p:cNvPr>
          <p:cNvSpPr txBox="1">
            <a:spLocks/>
          </p:cNvSpPr>
          <p:nvPr/>
        </p:nvSpPr>
        <p:spPr>
          <a:xfrm>
            <a:off x="6317019" y="1269000"/>
            <a:ext cx="5035194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Tätigkeiten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Projektabwicklung aller Leistungsphasen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Projekt-, Vertrags- und Nachtragsmanagement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Optimierung von Kosten, Terminen und Qualität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Planrechtliche und bauaufsichtliche</a:t>
            </a:r>
            <a:br>
              <a:rPr lang="de-DE" sz="1400" dirty="0"/>
            </a:br>
            <a:r>
              <a:rPr lang="de-DE" sz="1400" dirty="0"/>
              <a:t>Genehmigungsverfahren</a:t>
            </a:r>
          </a:p>
          <a:p>
            <a:pPr marL="0" indent="0">
              <a:buClr>
                <a:srgbClr val="EB891B"/>
              </a:buClr>
              <a:buNone/>
            </a:pPr>
            <a:br>
              <a:rPr lang="de-DE" sz="1100" dirty="0"/>
            </a:br>
            <a:endParaRPr lang="de-DE" sz="1100" dirty="0"/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25C87158-5546-2F82-D797-F3FFF52A124D}"/>
              </a:ext>
            </a:extLst>
          </p:cNvPr>
          <p:cNvSpPr/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61" name="Textplatzhalter 2">
            <a:extLst>
              <a:ext uri="{FF2B5EF4-FFF2-40B4-BE49-F238E27FC236}">
                <a16:creationId xmlns:a16="http://schemas.microsoft.com/office/drawing/2014/main" id="{F06E7DAE-6110-C4DD-8A0D-27AB190F8898}"/>
              </a:ext>
            </a:extLst>
          </p:cNvPr>
          <p:cNvSpPr txBox="1">
            <a:spLocks/>
          </p:cNvSpPr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EB891B"/>
              </a:buClr>
              <a:buNone/>
            </a:pPr>
            <a:r>
              <a:rPr lang="de-DE" sz="1600">
                <a:latin typeface="DB Neo Screen Head Black" pitchFamily="2" charset="0"/>
              </a:rPr>
              <a:t>BIM im Fokus</a:t>
            </a:r>
          </a:p>
          <a:p>
            <a:pPr marL="0" indent="0" algn="ctr">
              <a:buClr>
                <a:srgbClr val="EB891B"/>
              </a:buClr>
              <a:buNone/>
            </a:pPr>
            <a:endParaRPr lang="de-DE" sz="120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/>
              <a:t>Sämtliche neuen Projekte werden mittels BIM-Methodik abgewickelt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/>
              <a:t>Von Planungsleistungen bis zur Baufortschrittskontrollen während der Bauausführung</a:t>
            </a:r>
            <a:endParaRPr lang="de-DE" sz="1600"/>
          </a:p>
        </p:txBody>
      </p:sp>
      <p:pic>
        <p:nvPicPr>
          <p:cNvPr id="5" name="!!Vorstellung" descr="Bauarbeiter mit einfarbiger Füllung">
            <a:extLst>
              <a:ext uri="{FF2B5EF4-FFF2-40B4-BE49-F238E27FC236}">
                <a16:creationId xmlns:a16="http://schemas.microsoft.com/office/drawing/2014/main" id="{0951B697-6398-82B7-4EF0-DEED266F4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DB2F-37C7-4D1A-F074-B164C648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EEE969B-3C7F-8DCB-4696-E488441BE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063781-6488-A185-76B5-7869E71E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5125"/>
            <a:ext cx="10837863" cy="596900"/>
          </a:xfrm>
        </p:spPr>
        <p:txBody>
          <a:bodyPr/>
          <a:lstStyle/>
          <a:p>
            <a:r>
              <a:rPr lang="de-DE" dirty="0"/>
              <a:t>Lukas Roese </a:t>
            </a:r>
            <a:r>
              <a:rPr lang="de-DE" sz="2000" dirty="0">
                <a:solidFill>
                  <a:srgbClr val="EB891B"/>
                </a:solidFill>
              </a:rPr>
              <a:t>Externe Projektsteuerung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95B315C-A452-5556-7FFE-6599B9AAE6D3}"/>
              </a:ext>
            </a:extLst>
          </p:cNvPr>
          <p:cNvSpPr/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46B9FB2-ED63-DEEB-D9B6-48A123B17B09}"/>
              </a:ext>
            </a:extLst>
          </p:cNvPr>
          <p:cNvSpPr txBox="1">
            <a:spLocks/>
          </p:cNvSpPr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Meine Tätigkeiten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Projektsteuerung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Baubetriebs- &amp; Bauphasenplanung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Planlaufmanagement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Verbindliche Koordinierungsanweisung</a:t>
            </a:r>
          </a:p>
          <a:p>
            <a:pPr marL="0" indent="0">
              <a:buClr>
                <a:srgbClr val="EB891B"/>
              </a:buClr>
              <a:buNone/>
            </a:pPr>
            <a:br>
              <a:rPr lang="de-DE" dirty="0"/>
            </a:br>
            <a:endParaRPr lang="de-DE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9EAB136-FCDF-041D-8C80-ED75790DD7F3}"/>
              </a:ext>
            </a:extLst>
          </p:cNvPr>
          <p:cNvSpPr/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1ED0734F-9D4D-F082-5D81-65C6BDB88B7C}"/>
              </a:ext>
            </a:extLst>
          </p:cNvPr>
          <p:cNvSpPr txBox="1">
            <a:spLocks/>
          </p:cNvSpPr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EB891B"/>
              </a:buClr>
              <a:buNone/>
            </a:pPr>
            <a:r>
              <a:rPr lang="de-DE" sz="1600" dirty="0">
                <a:latin typeface="DB Neo Screen Head Black" pitchFamily="2" charset="0"/>
              </a:rPr>
              <a:t>Funktion im Projekt</a:t>
            </a:r>
          </a:p>
          <a:p>
            <a:pPr marL="0" indent="0" algn="ctr">
              <a:buClr>
                <a:srgbClr val="EB891B"/>
              </a:buClr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Unterstützung der Projektleitung in sämtlichen Belangen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Terminliche Koordination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360°-Videodokumentation</a:t>
            </a:r>
            <a:endParaRPr lang="de-DE" sz="1600" dirty="0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8E00D9CC-8C6D-026A-4B1B-4E18FCF32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945E825-4D05-EA6C-0F45-01AB5FA9A2EA}"/>
              </a:ext>
            </a:extLst>
          </p:cNvPr>
          <p:cNvSpPr/>
          <p:nvPr/>
        </p:nvSpPr>
        <p:spPr>
          <a:xfrm>
            <a:off x="623888" y="1273104"/>
            <a:ext cx="5040000" cy="2159999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5B135B9-255D-659B-2B5F-E48DFB039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86" y="1417992"/>
            <a:ext cx="1490144" cy="18620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3" name="Grafik 12" descr="Umschlag mit einfarbiger Füllung">
            <a:extLst>
              <a:ext uri="{FF2B5EF4-FFF2-40B4-BE49-F238E27FC236}">
                <a16:creationId xmlns:a16="http://schemas.microsoft.com/office/drawing/2014/main" id="{78F44C3F-28F1-590E-0888-5BC4E0D73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8836" y="2491293"/>
            <a:ext cx="360000" cy="360000"/>
          </a:xfrm>
          <a:prstGeom prst="rect">
            <a:avLst/>
          </a:prstGeom>
        </p:spPr>
      </p:pic>
      <p:pic>
        <p:nvPicPr>
          <p:cNvPr id="15" name="Grafik 14" descr="Receiver mit einfarbiger Füllung">
            <a:extLst>
              <a:ext uri="{FF2B5EF4-FFF2-40B4-BE49-F238E27FC236}">
                <a16:creationId xmlns:a16="http://schemas.microsoft.com/office/drawing/2014/main" id="{D077630C-96DA-99BE-1060-04BE2C919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5836" y="1657264"/>
            <a:ext cx="306000" cy="30600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366F100C-904B-5C42-5B2A-61F0DF6B0079}"/>
              </a:ext>
            </a:extLst>
          </p:cNvPr>
          <p:cNvSpPr txBox="1"/>
          <p:nvPr/>
        </p:nvSpPr>
        <p:spPr>
          <a:xfrm>
            <a:off x="2691549" y="1599409"/>
            <a:ext cx="2376313" cy="155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b="1">
                <a:solidFill>
                  <a:srgbClr val="20426E"/>
                </a:solidFill>
                <a:latin typeface="DB Neo Office" pitchFamily="2" charset="0"/>
              </a:rPr>
              <a:t>Telefon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>
                <a:solidFill>
                  <a:srgbClr val="20426E"/>
                </a:solidFill>
                <a:latin typeface="DB Neo Office" pitchFamily="2" charset="0"/>
              </a:rPr>
              <a:t>0721 / 93 280 - 612</a:t>
            </a:r>
          </a:p>
          <a:p>
            <a:endParaRPr lang="de-DE" sz="1400">
              <a:solidFill>
                <a:srgbClr val="2142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b="1">
                <a:solidFill>
                  <a:srgbClr val="20426E"/>
                </a:solidFill>
                <a:latin typeface="DB Neo Office" pitchFamily="2" charset="0"/>
              </a:rPr>
              <a:t>E-Mail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>
                <a:solidFill>
                  <a:srgbClr val="20426E"/>
                </a:solidFill>
                <a:latin typeface="DB Neo Office" pitchFamily="2" charset="0"/>
              </a:rPr>
              <a:t>lroese@mic.de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B33906D-B33F-9CBC-5CE5-00A75207E614}"/>
              </a:ext>
            </a:extLst>
          </p:cNvPr>
          <p:cNvSpPr/>
          <p:nvPr/>
        </p:nvSpPr>
        <p:spPr>
          <a:xfrm>
            <a:off x="623888" y="3917391"/>
            <a:ext cx="5040000" cy="2159999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DB948F3-4641-3CC8-1719-3EC709375D6B}"/>
              </a:ext>
            </a:extLst>
          </p:cNvPr>
          <p:cNvSpPr txBox="1">
            <a:spLocks/>
          </p:cNvSpPr>
          <p:nvPr/>
        </p:nvSpPr>
        <p:spPr>
          <a:xfrm>
            <a:off x="623888" y="3926233"/>
            <a:ext cx="5040000" cy="2159999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Vita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Infrastrukturmanagement- &amp; Baumanagement-Studium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Zertifizierung zum BIM-Berater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KI-Trainer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Technischer Anmelder - Baubetriebsplanung</a:t>
            </a:r>
          </a:p>
        </p:txBody>
      </p:sp>
      <p:pic>
        <p:nvPicPr>
          <p:cNvPr id="6" name="!!Vorstellung" descr="Bauarbeiter mit einfarbiger Füllung">
            <a:extLst>
              <a:ext uri="{FF2B5EF4-FFF2-40B4-BE49-F238E27FC236}">
                <a16:creationId xmlns:a16="http://schemas.microsoft.com/office/drawing/2014/main" id="{299F5187-FB0D-C875-65B9-3F907381D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6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5DC36-C181-5B3B-1F7B-223FC5E4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23ED99A-F848-A967-D4B7-07C01F154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C3D6085-7C1B-5EC4-E65D-22C2E8D6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5125"/>
            <a:ext cx="10837863" cy="596900"/>
          </a:xfrm>
        </p:spPr>
        <p:txBody>
          <a:bodyPr>
            <a:normAutofit/>
          </a:bodyPr>
          <a:lstStyle/>
          <a:p>
            <a:r>
              <a:rPr lang="de-DE" dirty="0"/>
              <a:t>Mailänder Consult </a:t>
            </a:r>
            <a:r>
              <a:rPr lang="de-DE" sz="2000" dirty="0">
                <a:solidFill>
                  <a:srgbClr val="EB891B"/>
                </a:solidFill>
              </a:rPr>
              <a:t>planen · entwickeln · steuern</a:t>
            </a:r>
            <a:endParaRPr lang="de-DE" dirty="0">
              <a:solidFill>
                <a:srgbClr val="EB891B"/>
              </a:solidFill>
            </a:endParaRP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616F89E3-4672-C294-3DD3-061C45192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3E3FA7D-6904-5926-808A-23DDDB506FD9}"/>
              </a:ext>
            </a:extLst>
          </p:cNvPr>
          <p:cNvSpPr/>
          <p:nvPr/>
        </p:nvSpPr>
        <p:spPr>
          <a:xfrm>
            <a:off x="623888" y="1268413"/>
            <a:ext cx="5076825" cy="4824412"/>
          </a:xfrm>
          <a:prstGeom prst="roundRect">
            <a:avLst>
              <a:gd name="adj" fmla="val 5939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2" name="!!Textfeld 21">
            <a:extLst>
              <a:ext uri="{FF2B5EF4-FFF2-40B4-BE49-F238E27FC236}">
                <a16:creationId xmlns:a16="http://schemas.microsoft.com/office/drawing/2014/main" id="{83D2770E-C71A-4AAF-56BC-98A80F0E48FE}"/>
              </a:ext>
            </a:extLst>
          </p:cNvPr>
          <p:cNvSpPr txBox="1"/>
          <p:nvPr/>
        </p:nvSpPr>
        <p:spPr>
          <a:xfrm>
            <a:off x="4123401" y="1744474"/>
            <a:ext cx="17206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B891B"/>
              </a:buClr>
            </a:pPr>
            <a: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  <a:t>Hauptsitz</a:t>
            </a:r>
            <a:b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</a:br>
            <a: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  <a:t>Karlsruhe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Mathystraße 13</a:t>
            </a:r>
          </a:p>
          <a:p>
            <a:pPr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0721 / 93 280 – 0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info@mic.de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endParaRPr lang="de-DE" sz="1200" dirty="0">
              <a:solidFill>
                <a:srgbClr val="20426E"/>
              </a:solidFill>
              <a:latin typeface="DB Neo Office" pitchFamily="2" charset="0"/>
            </a:endParaRPr>
          </a:p>
          <a:p>
            <a:pPr>
              <a:buClr>
                <a:srgbClr val="EB891B"/>
              </a:buClr>
            </a:pPr>
            <a:r>
              <a:rPr lang="de-DE" sz="1200" b="1" dirty="0">
                <a:solidFill>
                  <a:srgbClr val="20426E"/>
                </a:solidFill>
                <a:latin typeface="DB Neo Office" pitchFamily="2" charset="0"/>
              </a:rPr>
              <a:t>Niederlassung Frankfurt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Hahnstraße 38</a:t>
            </a:r>
          </a:p>
          <a:p>
            <a:pPr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069 / 95 93 20 09-0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endParaRPr lang="de-DE" sz="1200" dirty="0">
              <a:solidFill>
                <a:srgbClr val="20426E"/>
              </a:solidFill>
              <a:latin typeface="DB Neo Office" pitchFamily="2" charset="0"/>
            </a:endParaRPr>
          </a:p>
          <a:p>
            <a:pPr>
              <a:buClr>
                <a:srgbClr val="EB891B"/>
              </a:buClr>
            </a:pPr>
            <a:r>
              <a:rPr lang="de-DE" sz="1200" b="1" dirty="0">
                <a:solidFill>
                  <a:srgbClr val="20426E"/>
                </a:solidFill>
                <a:latin typeface="DB Neo Office" pitchFamily="2" charset="0"/>
              </a:rPr>
              <a:t>Niederlassung Stuttgart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Lange Straße 9</a:t>
            </a:r>
          </a:p>
          <a:p>
            <a:pPr>
              <a:buClr>
                <a:srgbClr val="EB891B"/>
              </a:buClr>
            </a:pP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0711 / 49 07 90-0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4010FE79-89C1-EF39-06C2-10F10B886934}"/>
              </a:ext>
            </a:extLst>
          </p:cNvPr>
          <p:cNvGrpSpPr/>
          <p:nvPr/>
        </p:nvGrpSpPr>
        <p:grpSpPr>
          <a:xfrm>
            <a:off x="725231" y="1513930"/>
            <a:ext cx="2982339" cy="4106452"/>
            <a:chOff x="4410639" y="1385667"/>
            <a:chExt cx="3419227" cy="4708013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12B35DC3-34C5-394B-496F-554004355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0639" y="1385667"/>
              <a:ext cx="3419227" cy="470801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Textplatzhalter 1">
              <a:extLst>
                <a:ext uri="{FF2B5EF4-FFF2-40B4-BE49-F238E27FC236}">
                  <a16:creationId xmlns:a16="http://schemas.microsoft.com/office/drawing/2014/main" id="{5F6AB194-7538-37BC-AD45-E26022ECBB46}"/>
                </a:ext>
              </a:extLst>
            </p:cNvPr>
            <p:cNvSpPr txBox="1">
              <a:spLocks/>
            </p:cNvSpPr>
            <p:nvPr/>
          </p:nvSpPr>
          <p:spPr>
            <a:xfrm>
              <a:off x="5534421" y="4993989"/>
              <a:ext cx="1401917" cy="54679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264C7C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Stuttgart</a:t>
              </a:r>
            </a:p>
          </p:txBody>
        </p:sp>
        <p:sp>
          <p:nvSpPr>
            <p:cNvPr id="34" name="Textplatzhalter 1">
              <a:extLst>
                <a:ext uri="{FF2B5EF4-FFF2-40B4-BE49-F238E27FC236}">
                  <a16:creationId xmlns:a16="http://schemas.microsoft.com/office/drawing/2014/main" id="{A791D200-6459-2CE2-49AE-1F9B359BDDE7}"/>
                </a:ext>
              </a:extLst>
            </p:cNvPr>
            <p:cNvSpPr txBox="1">
              <a:spLocks/>
            </p:cNvSpPr>
            <p:nvPr/>
          </p:nvSpPr>
          <p:spPr>
            <a:xfrm>
              <a:off x="5306339" y="4773135"/>
              <a:ext cx="1627826" cy="31226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20426E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Karlsruhe</a:t>
              </a:r>
            </a:p>
          </p:txBody>
        </p:sp>
        <p:sp>
          <p:nvSpPr>
            <p:cNvPr id="35" name="Textplatzhalter 1">
              <a:extLst>
                <a:ext uri="{FF2B5EF4-FFF2-40B4-BE49-F238E27FC236}">
                  <a16:creationId xmlns:a16="http://schemas.microsoft.com/office/drawing/2014/main" id="{2FD118BD-A38F-B5C9-5A2B-8DC5C7D13368}"/>
                </a:ext>
              </a:extLst>
            </p:cNvPr>
            <p:cNvSpPr txBox="1">
              <a:spLocks/>
            </p:cNvSpPr>
            <p:nvPr/>
          </p:nvSpPr>
          <p:spPr>
            <a:xfrm>
              <a:off x="5393037" y="4161274"/>
              <a:ext cx="1595847" cy="38674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264C7C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Frankfurt</a:t>
              </a: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10EB0906-3890-4A5F-9F08-C742FD8E30C7}"/>
                </a:ext>
              </a:extLst>
            </p:cNvPr>
            <p:cNvSpPr/>
            <p:nvPr/>
          </p:nvSpPr>
          <p:spPr>
            <a:xfrm>
              <a:off x="5464234" y="5077479"/>
              <a:ext cx="142393" cy="142393"/>
            </a:xfrm>
            <a:prstGeom prst="ellipse">
              <a:avLst/>
            </a:prstGeom>
            <a:solidFill>
              <a:srgbClr val="264C7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0" cap="none" spc="0" normalizeH="0" baseline="0" noProof="0">
                <a:ln>
                  <a:noFill/>
                </a:ln>
                <a:solidFill>
                  <a:srgbClr val="264C7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0B2B1888-32F5-DA2F-828F-03C4D6178663}"/>
                </a:ext>
              </a:extLst>
            </p:cNvPr>
            <p:cNvSpPr/>
            <p:nvPr/>
          </p:nvSpPr>
          <p:spPr>
            <a:xfrm>
              <a:off x="5236414" y="4844159"/>
              <a:ext cx="142393" cy="142393"/>
            </a:xfrm>
            <a:prstGeom prst="ellipse">
              <a:avLst/>
            </a:prstGeom>
            <a:solidFill>
              <a:srgbClr val="EB891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0" cap="none" spc="0" normalizeH="0" baseline="0" noProof="0">
                <a:ln>
                  <a:noFill/>
                </a:ln>
                <a:solidFill>
                  <a:srgbClr val="264C7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CA050B2-9AA4-1B2D-6801-01C4F4051609}"/>
                </a:ext>
              </a:extLst>
            </p:cNvPr>
            <p:cNvSpPr/>
            <p:nvPr/>
          </p:nvSpPr>
          <p:spPr>
            <a:xfrm>
              <a:off x="5321841" y="4240535"/>
              <a:ext cx="142393" cy="142393"/>
            </a:xfrm>
            <a:prstGeom prst="ellipse">
              <a:avLst/>
            </a:prstGeom>
            <a:solidFill>
              <a:srgbClr val="264C7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0" cap="none" spc="0" normalizeH="0" baseline="0" noProof="0">
                <a:ln>
                  <a:noFill/>
                </a:ln>
                <a:solidFill>
                  <a:srgbClr val="264C7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5" name="Grafik 14" descr="Gebäude mit einfarbiger Füllung">
            <a:extLst>
              <a:ext uri="{FF2B5EF4-FFF2-40B4-BE49-F238E27FC236}">
                <a16:creationId xmlns:a16="http://schemas.microsoft.com/office/drawing/2014/main" id="{7EDF695C-F15A-68AC-57AC-0C166B67CB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05961" y="1886327"/>
            <a:ext cx="360000" cy="360000"/>
          </a:xfrm>
          <a:prstGeom prst="rect">
            <a:avLst/>
          </a:prstGeom>
        </p:spPr>
      </p:pic>
      <p:pic>
        <p:nvPicPr>
          <p:cNvPr id="14" name="Grafik 13" descr="Gebäude mit einfarbiger Füllung">
            <a:extLst>
              <a:ext uri="{FF2B5EF4-FFF2-40B4-BE49-F238E27FC236}">
                <a16:creationId xmlns:a16="http://schemas.microsoft.com/office/drawing/2014/main" id="{16B371D4-3F39-DA93-483B-400018473B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05961" y="3379604"/>
            <a:ext cx="360000" cy="360000"/>
          </a:xfrm>
          <a:prstGeom prst="rect">
            <a:avLst/>
          </a:prstGeom>
        </p:spPr>
      </p:pic>
      <p:pic>
        <p:nvPicPr>
          <p:cNvPr id="16" name="Grafik 15" descr="Gebäude mit einfarbiger Füllung">
            <a:extLst>
              <a:ext uri="{FF2B5EF4-FFF2-40B4-BE49-F238E27FC236}">
                <a16:creationId xmlns:a16="http://schemas.microsoft.com/office/drawing/2014/main" id="{C9327ADB-685C-944B-B4E6-78C26BBC3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05961" y="4570131"/>
            <a:ext cx="360000" cy="360000"/>
          </a:xfrm>
          <a:prstGeom prst="rect">
            <a:avLst/>
          </a:prstGeom>
        </p:spPr>
      </p:pic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B70FF01-A39F-D872-BE93-66D2934410CD}"/>
              </a:ext>
            </a:extLst>
          </p:cNvPr>
          <p:cNvSpPr/>
          <p:nvPr/>
        </p:nvSpPr>
        <p:spPr>
          <a:xfrm>
            <a:off x="9192214" y="3871602"/>
            <a:ext cx="2160000" cy="180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F04AC281-6360-0EF7-2F6D-D510D59E57FB}"/>
              </a:ext>
            </a:extLst>
          </p:cNvPr>
          <p:cNvSpPr txBox="1">
            <a:spLocks/>
          </p:cNvSpPr>
          <p:nvPr/>
        </p:nvSpPr>
        <p:spPr>
          <a:xfrm>
            <a:off x="9192213" y="3871601"/>
            <a:ext cx="2160000" cy="180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800" dirty="0">
                <a:solidFill>
                  <a:srgbClr val="EB891B"/>
                </a:solidFill>
                <a:latin typeface="DB Neo Screen Head Black" pitchFamily="2" charset="0"/>
              </a:rPr>
              <a:t>14</a:t>
            </a:r>
            <a:br>
              <a:rPr lang="de-DE" sz="2800" dirty="0">
                <a:solidFill>
                  <a:srgbClr val="EB891B"/>
                </a:solidFill>
                <a:latin typeface="DB Neo Screen Head Black" pitchFamily="2" charset="0"/>
              </a:rPr>
            </a:br>
            <a:r>
              <a:rPr lang="de-DE" sz="1600" dirty="0">
                <a:latin typeface="DB Neo Screen Head Black" pitchFamily="2" charset="0"/>
              </a:rPr>
              <a:t>Fachbereiche</a:t>
            </a:r>
            <a:endParaRPr lang="de-DE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7DEEF51-7683-8082-BDCC-294BC21D9F64}"/>
              </a:ext>
            </a:extLst>
          </p:cNvPr>
          <p:cNvSpPr/>
          <p:nvPr/>
        </p:nvSpPr>
        <p:spPr>
          <a:xfrm>
            <a:off x="9192214" y="1516812"/>
            <a:ext cx="2160000" cy="180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2F0F4BE-1907-FC78-04FC-8A2F9C0B1390}"/>
              </a:ext>
            </a:extLst>
          </p:cNvPr>
          <p:cNvSpPr txBox="1">
            <a:spLocks/>
          </p:cNvSpPr>
          <p:nvPr/>
        </p:nvSpPr>
        <p:spPr>
          <a:xfrm>
            <a:off x="9192213" y="1516811"/>
            <a:ext cx="2160000" cy="180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800">
                <a:solidFill>
                  <a:srgbClr val="EB891B"/>
                </a:solidFill>
                <a:latin typeface="DB Neo Screen Head Black" pitchFamily="2" charset="0"/>
              </a:rPr>
              <a:t>350+ </a:t>
            </a:r>
            <a:r>
              <a:rPr lang="de-DE" sz="1600">
                <a:latin typeface="DB Neo Screen Head Black" pitchFamily="2" charset="0"/>
              </a:rPr>
              <a:t>Mitarbeitende</a:t>
            </a:r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AFFA39F8-9B33-CB40-245E-6AC3FC1A5EDE}"/>
              </a:ext>
            </a:extLst>
          </p:cNvPr>
          <p:cNvSpPr/>
          <p:nvPr/>
        </p:nvSpPr>
        <p:spPr>
          <a:xfrm>
            <a:off x="6318188" y="3871602"/>
            <a:ext cx="2160000" cy="180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66384848-4BE8-E858-EDCA-8ED5C7B4002A}"/>
              </a:ext>
            </a:extLst>
          </p:cNvPr>
          <p:cNvSpPr txBox="1">
            <a:spLocks/>
          </p:cNvSpPr>
          <p:nvPr/>
        </p:nvSpPr>
        <p:spPr>
          <a:xfrm>
            <a:off x="6318187" y="3871601"/>
            <a:ext cx="2160000" cy="180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800" dirty="0">
                <a:solidFill>
                  <a:srgbClr val="EB891B"/>
                </a:solidFill>
                <a:latin typeface="DB Neo Screen Head Black" pitchFamily="2" charset="0"/>
              </a:rPr>
              <a:t>1400+</a:t>
            </a:r>
            <a:br>
              <a:rPr lang="de-DE" dirty="0">
                <a:latin typeface="DB Neo Screen Head Black" pitchFamily="2" charset="0"/>
              </a:rPr>
            </a:br>
            <a:r>
              <a:rPr lang="de-DE" sz="1600" dirty="0">
                <a:latin typeface="DB Neo Screen Head Black" pitchFamily="2" charset="0"/>
              </a:rPr>
              <a:t>Projekte</a:t>
            </a:r>
            <a:endParaRPr lang="de-DE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B12F896E-90FC-DB94-B86B-13AD485487F1}"/>
              </a:ext>
            </a:extLst>
          </p:cNvPr>
          <p:cNvSpPr/>
          <p:nvPr/>
        </p:nvSpPr>
        <p:spPr>
          <a:xfrm>
            <a:off x="6318188" y="1516813"/>
            <a:ext cx="2160000" cy="180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86A1AE4A-D348-BBD0-5D74-71ED40D699E2}"/>
              </a:ext>
            </a:extLst>
          </p:cNvPr>
          <p:cNvSpPr txBox="1">
            <a:spLocks/>
          </p:cNvSpPr>
          <p:nvPr/>
        </p:nvSpPr>
        <p:spPr>
          <a:xfrm>
            <a:off x="6318187" y="1516812"/>
            <a:ext cx="2160000" cy="180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800">
                <a:solidFill>
                  <a:srgbClr val="EB891B"/>
                </a:solidFill>
                <a:latin typeface="DB Neo Screen Head Black" pitchFamily="2" charset="0"/>
              </a:rPr>
              <a:t>40 Jahre</a:t>
            </a:r>
          </a:p>
          <a:p>
            <a:pPr marL="0" indent="0" algn="ctr">
              <a:buNone/>
            </a:pPr>
            <a:r>
              <a:rPr lang="de-DE" sz="1600">
                <a:latin typeface="DB Neo Screen Head Black" pitchFamily="2" charset="0"/>
              </a:rPr>
              <a:t>inhabergeführt</a:t>
            </a:r>
            <a:endParaRPr lang="de-DE" sz="1600">
              <a:solidFill>
                <a:srgbClr val="EB891B"/>
              </a:solidFill>
            </a:endParaRPr>
          </a:p>
        </p:txBody>
      </p:sp>
      <p:pic>
        <p:nvPicPr>
          <p:cNvPr id="6" name="!!Vorstellung" descr="Bauarbeiter mit einfarbiger Füllung">
            <a:extLst>
              <a:ext uri="{FF2B5EF4-FFF2-40B4-BE49-F238E27FC236}">
                <a16:creationId xmlns:a16="http://schemas.microsoft.com/office/drawing/2014/main" id="{45861EAA-09B9-F7E3-7C1D-5CB7B6EF3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77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5A2A-1451-F969-BB2E-7926FE44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33FD405-223F-DF16-1E72-E5EF2C398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845518CC-E8C4-5C29-46E2-3B3C7B9AC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492875"/>
            <a:ext cx="4114800" cy="365125"/>
          </a:xfrm>
        </p:spPr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8" name="Titel 3">
            <a:extLst>
              <a:ext uri="{FF2B5EF4-FFF2-40B4-BE49-F238E27FC236}">
                <a16:creationId xmlns:a16="http://schemas.microsoft.com/office/drawing/2014/main" id="{37F73B1C-43C4-8C75-12AD-CDB11872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5125"/>
            <a:ext cx="10837863" cy="596900"/>
          </a:xfrm>
        </p:spPr>
        <p:txBody>
          <a:bodyPr>
            <a:normAutofit/>
          </a:bodyPr>
          <a:lstStyle/>
          <a:p>
            <a:r>
              <a:rPr lang="de-DE" dirty="0"/>
              <a:t>Mailänder Consult </a:t>
            </a:r>
            <a:r>
              <a:rPr lang="de-DE" sz="2000" dirty="0">
                <a:solidFill>
                  <a:srgbClr val="EB891B"/>
                </a:solidFill>
              </a:rPr>
              <a:t>planen · entwickeln · steuern</a:t>
            </a:r>
            <a:endParaRPr lang="de-DE" dirty="0">
              <a:solidFill>
                <a:srgbClr val="EB891B"/>
              </a:solidFill>
            </a:endParaRP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E6DB5FA5-9FBC-4F34-1968-B5A79B5EDED9}"/>
              </a:ext>
            </a:extLst>
          </p:cNvPr>
          <p:cNvSpPr/>
          <p:nvPr/>
        </p:nvSpPr>
        <p:spPr>
          <a:xfrm>
            <a:off x="623888" y="1269000"/>
            <a:ext cx="25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52" name="Textplatzhalter 2">
            <a:extLst>
              <a:ext uri="{FF2B5EF4-FFF2-40B4-BE49-F238E27FC236}">
                <a16:creationId xmlns:a16="http://schemas.microsoft.com/office/drawing/2014/main" id="{54F831FA-4F3B-803E-063A-D36795AD5A37}"/>
              </a:ext>
            </a:extLst>
          </p:cNvPr>
          <p:cNvSpPr txBox="1">
            <a:spLocks/>
          </p:cNvSpPr>
          <p:nvPr/>
        </p:nvSpPr>
        <p:spPr>
          <a:xfrm>
            <a:off x="623888" y="1269000"/>
            <a:ext cx="25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Eisenbahn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lnSpc>
                <a:spcPct val="150000"/>
              </a:lnSpc>
              <a:buClr>
                <a:srgbClr val="EB891B"/>
              </a:buClr>
              <a:buNone/>
            </a:pPr>
            <a:r>
              <a:rPr lang="de-DE" sz="1200" dirty="0"/>
              <a:t>Planung: Bahnhöfe · Aus- und Neubaustrecken </a:t>
            </a:r>
            <a:endParaRPr lang="de-DE" sz="1600" dirty="0"/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57D131CF-24A9-4D20-33B0-54C6DB077483}"/>
              </a:ext>
            </a:extLst>
          </p:cNvPr>
          <p:cNvSpPr/>
          <p:nvPr/>
        </p:nvSpPr>
        <p:spPr>
          <a:xfrm>
            <a:off x="8832213" y="1269000"/>
            <a:ext cx="25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61" name="Textplatzhalter 2">
            <a:extLst>
              <a:ext uri="{FF2B5EF4-FFF2-40B4-BE49-F238E27FC236}">
                <a16:creationId xmlns:a16="http://schemas.microsoft.com/office/drawing/2014/main" id="{421A26F3-F762-F17F-0218-C09B27BA05BC}"/>
              </a:ext>
            </a:extLst>
          </p:cNvPr>
          <p:cNvSpPr txBox="1">
            <a:spLocks/>
          </p:cNvSpPr>
          <p:nvPr/>
        </p:nvSpPr>
        <p:spPr>
          <a:xfrm>
            <a:off x="8832213" y="1269000"/>
            <a:ext cx="25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Architektur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lnSpc>
                <a:spcPct val="150000"/>
              </a:lnSpc>
              <a:buClr>
                <a:srgbClr val="EB891B"/>
              </a:buClr>
              <a:buNone/>
            </a:pPr>
            <a:r>
              <a:rPr lang="de-DE" sz="1200" dirty="0"/>
              <a:t>Planung: Empfangsgebäude · Büro · öffentliche Gebäude</a:t>
            </a:r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1600DA4C-A883-57C5-1ADC-4474834D82C8}"/>
              </a:ext>
            </a:extLst>
          </p:cNvPr>
          <p:cNvSpPr/>
          <p:nvPr/>
        </p:nvSpPr>
        <p:spPr>
          <a:xfrm>
            <a:off x="6120085" y="1269000"/>
            <a:ext cx="25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63" name="Textplatzhalter 2">
            <a:extLst>
              <a:ext uri="{FF2B5EF4-FFF2-40B4-BE49-F238E27FC236}">
                <a16:creationId xmlns:a16="http://schemas.microsoft.com/office/drawing/2014/main" id="{7D09DDBF-F7E5-61D8-F8D0-EE822CE78F77}"/>
              </a:ext>
            </a:extLst>
          </p:cNvPr>
          <p:cNvSpPr txBox="1">
            <a:spLocks/>
          </p:cNvSpPr>
          <p:nvPr/>
        </p:nvSpPr>
        <p:spPr>
          <a:xfrm>
            <a:off x="6120085" y="1269000"/>
            <a:ext cx="25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Ingenieurbau</a:t>
            </a: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9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8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lnSpc>
                <a:spcPct val="140000"/>
              </a:lnSpc>
              <a:buClr>
                <a:srgbClr val="EB891B"/>
              </a:buClr>
              <a:buNone/>
            </a:pPr>
            <a:r>
              <a:rPr lang="de-DE" sz="1100" dirty="0"/>
              <a:t>Planung: Brücken · Konstruktiver IB · Verkehrsstationen</a:t>
            </a:r>
          </a:p>
          <a:p>
            <a:pPr marL="0" indent="0" algn="ctr">
              <a:lnSpc>
                <a:spcPct val="140000"/>
              </a:lnSpc>
              <a:buClr>
                <a:srgbClr val="EB891B"/>
              </a:buClr>
              <a:buNone/>
            </a:pPr>
            <a:br>
              <a:rPr lang="de-DE" dirty="0"/>
            </a:br>
            <a:endParaRPr lang="de-DE" dirty="0"/>
          </a:p>
        </p:txBody>
      </p:sp>
      <p:sp>
        <p:nvSpPr>
          <p:cNvPr id="64" name="Rechteck: abgerundete Ecken 63">
            <a:extLst>
              <a:ext uri="{FF2B5EF4-FFF2-40B4-BE49-F238E27FC236}">
                <a16:creationId xmlns:a16="http://schemas.microsoft.com/office/drawing/2014/main" id="{36A3EFB7-5739-D9BA-1CAC-97A0EEACC0DB}"/>
              </a:ext>
            </a:extLst>
          </p:cNvPr>
          <p:cNvSpPr/>
          <p:nvPr/>
        </p:nvSpPr>
        <p:spPr>
          <a:xfrm>
            <a:off x="3359996" y="1269000"/>
            <a:ext cx="25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 dirty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65" name="Textplatzhalter 2">
            <a:extLst>
              <a:ext uri="{FF2B5EF4-FFF2-40B4-BE49-F238E27FC236}">
                <a16:creationId xmlns:a16="http://schemas.microsoft.com/office/drawing/2014/main" id="{599BB05A-4087-D26E-B6E5-2850EA0E393E}"/>
              </a:ext>
            </a:extLst>
          </p:cNvPr>
          <p:cNvSpPr txBox="1">
            <a:spLocks/>
          </p:cNvSpPr>
          <p:nvPr/>
        </p:nvSpPr>
        <p:spPr>
          <a:xfrm>
            <a:off x="3359996" y="1269000"/>
            <a:ext cx="25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Nahverkehr &amp; Straße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lnSpc>
                <a:spcPct val="150000"/>
              </a:lnSpc>
              <a:buClr>
                <a:srgbClr val="EB891B"/>
              </a:buClr>
              <a:buNone/>
            </a:pPr>
            <a:r>
              <a:rPr lang="de-DE" sz="1200" dirty="0"/>
              <a:t>Planung: Stadtbahn · ÖPNV · Bundesstraßen · Radwege</a:t>
            </a:r>
            <a:endParaRPr lang="de-DE" sz="1600" dirty="0"/>
          </a:p>
        </p:txBody>
      </p:sp>
      <p:sp>
        <p:nvSpPr>
          <p:cNvPr id="72" name="Rechteck: abgerundete Ecken 71">
            <a:extLst>
              <a:ext uri="{FF2B5EF4-FFF2-40B4-BE49-F238E27FC236}">
                <a16:creationId xmlns:a16="http://schemas.microsoft.com/office/drawing/2014/main" id="{A44659F9-FF1D-C796-3DF5-B34C1DABE4F3}"/>
              </a:ext>
            </a:extLst>
          </p:cNvPr>
          <p:cNvSpPr/>
          <p:nvPr/>
        </p:nvSpPr>
        <p:spPr>
          <a:xfrm>
            <a:off x="623888" y="3908549"/>
            <a:ext cx="34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73" name="Textplatzhalter 2">
            <a:extLst>
              <a:ext uri="{FF2B5EF4-FFF2-40B4-BE49-F238E27FC236}">
                <a16:creationId xmlns:a16="http://schemas.microsoft.com/office/drawing/2014/main" id="{60288AA0-A795-A2E2-AD58-222B74D2ADF2}"/>
              </a:ext>
            </a:extLst>
          </p:cNvPr>
          <p:cNvSpPr txBox="1">
            <a:spLocks/>
          </p:cNvSpPr>
          <p:nvPr/>
        </p:nvSpPr>
        <p:spPr>
          <a:xfrm>
            <a:off x="623888" y="3908549"/>
            <a:ext cx="34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Flächenmanagement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indent="0" algn="ctr">
              <a:lnSpc>
                <a:spcPct val="150000"/>
              </a:lnSpc>
              <a:buClr>
                <a:srgbClr val="EB891B"/>
              </a:buClr>
              <a:buNone/>
            </a:pPr>
            <a:r>
              <a:rPr lang="de-DE" sz="1100" dirty="0"/>
              <a:t>Flächensicherung · Flächenerwerb · Entschädigungen ·  Nutzungsvereinbarungen ·  Eintragungsbewilligungen · Grunddienstbarkeiten</a:t>
            </a:r>
          </a:p>
        </p:txBody>
      </p:sp>
      <p:sp>
        <p:nvSpPr>
          <p:cNvPr id="74" name="Rechteck: abgerundete Ecken 73">
            <a:extLst>
              <a:ext uri="{FF2B5EF4-FFF2-40B4-BE49-F238E27FC236}">
                <a16:creationId xmlns:a16="http://schemas.microsoft.com/office/drawing/2014/main" id="{E9111F55-F687-13B7-4D90-6754CC9AB8FC}"/>
              </a:ext>
            </a:extLst>
          </p:cNvPr>
          <p:cNvSpPr/>
          <p:nvPr/>
        </p:nvSpPr>
        <p:spPr>
          <a:xfrm>
            <a:off x="7932213" y="3908549"/>
            <a:ext cx="34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75" name="Textplatzhalter 2">
            <a:extLst>
              <a:ext uri="{FF2B5EF4-FFF2-40B4-BE49-F238E27FC236}">
                <a16:creationId xmlns:a16="http://schemas.microsoft.com/office/drawing/2014/main" id="{928EBD2E-C4EF-D5BF-3B26-25370758234E}"/>
              </a:ext>
            </a:extLst>
          </p:cNvPr>
          <p:cNvSpPr txBox="1">
            <a:spLocks/>
          </p:cNvSpPr>
          <p:nvPr/>
        </p:nvSpPr>
        <p:spPr>
          <a:xfrm>
            <a:off x="7932213" y="3908549"/>
            <a:ext cx="34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Umwelt, Natur &amp; Artenschutz</a:t>
            </a:r>
          </a:p>
          <a:p>
            <a:pPr marL="0" indent="0" algn="ctr">
              <a:buNone/>
            </a:pPr>
            <a:endParaRPr lang="de-DE" sz="10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0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0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100" dirty="0">
              <a:latin typeface="DB Neo Screen Head Black" pitchFamily="2" charset="0"/>
            </a:endParaRPr>
          </a:p>
          <a:p>
            <a:pPr marL="0" indent="0" algn="ctr">
              <a:lnSpc>
                <a:spcPct val="140000"/>
              </a:lnSpc>
              <a:buClr>
                <a:srgbClr val="EB891B"/>
              </a:buClr>
              <a:buNone/>
            </a:pPr>
            <a:r>
              <a:rPr lang="de-DE" sz="1200" dirty="0"/>
              <a:t>Umweltplanung · Artenschutz · Landschaft · UBB · Boden und -Gewässerschutz</a:t>
            </a:r>
            <a:br>
              <a:rPr lang="de-DE" dirty="0"/>
            </a:br>
            <a:endParaRPr lang="de-DE" dirty="0"/>
          </a:p>
        </p:txBody>
      </p:sp>
      <p:sp>
        <p:nvSpPr>
          <p:cNvPr id="76" name="Rechteck: abgerundete Ecken 75">
            <a:extLst>
              <a:ext uri="{FF2B5EF4-FFF2-40B4-BE49-F238E27FC236}">
                <a16:creationId xmlns:a16="http://schemas.microsoft.com/office/drawing/2014/main" id="{67F0F1C2-FD99-45E0-9EB9-8618C46B1DED}"/>
              </a:ext>
            </a:extLst>
          </p:cNvPr>
          <p:cNvSpPr/>
          <p:nvPr/>
        </p:nvSpPr>
        <p:spPr>
          <a:xfrm>
            <a:off x="4278050" y="3908549"/>
            <a:ext cx="342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77" name="!!Textfeld 21">
            <a:extLst>
              <a:ext uri="{FF2B5EF4-FFF2-40B4-BE49-F238E27FC236}">
                <a16:creationId xmlns:a16="http://schemas.microsoft.com/office/drawing/2014/main" id="{145EF2EC-45BA-E7A8-61CD-81BEFDEDDC1B}"/>
              </a:ext>
            </a:extLst>
          </p:cNvPr>
          <p:cNvSpPr txBox="1">
            <a:spLocks/>
          </p:cNvSpPr>
          <p:nvPr/>
        </p:nvSpPr>
        <p:spPr>
          <a:xfrm>
            <a:off x="4278050" y="3908549"/>
            <a:ext cx="342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Projektsteuerung &amp; -management</a:t>
            </a:r>
          </a:p>
          <a:p>
            <a:pPr marL="0" indent="0" algn="ctr">
              <a:buNone/>
            </a:pPr>
            <a:endParaRPr lang="de-DE" sz="14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400" dirty="0">
              <a:latin typeface="DB Neo Screen Head Black" pitchFamily="2" charset="0"/>
            </a:endParaRPr>
          </a:p>
          <a:p>
            <a:pPr marL="0" indent="0" algn="ctr">
              <a:buNone/>
            </a:pPr>
            <a:endParaRPr lang="de-DE" sz="1600" dirty="0">
              <a:latin typeface="DB Neo Screen Head Black" pitchFamily="2" charset="0"/>
            </a:endParaRPr>
          </a:p>
          <a:p>
            <a:pPr marL="0" indent="0" algn="ctr">
              <a:lnSpc>
                <a:spcPct val="140000"/>
              </a:lnSpc>
              <a:buClr>
                <a:srgbClr val="EB891B"/>
              </a:buClr>
              <a:buNone/>
            </a:pPr>
            <a:r>
              <a:rPr lang="de-DE" sz="1200" dirty="0"/>
              <a:t>Projektsteuerung nach AHO · Projektmanagement  · PMO · Baumanagement · Baubetriebsplanung · Baumonitoring </a:t>
            </a:r>
          </a:p>
        </p:txBody>
      </p:sp>
      <p:pic>
        <p:nvPicPr>
          <p:cNvPr id="85" name="Grafik 84" descr="Workflow mit einfarbiger Füllung">
            <a:extLst>
              <a:ext uri="{FF2B5EF4-FFF2-40B4-BE49-F238E27FC236}">
                <a16:creationId xmlns:a16="http://schemas.microsoft.com/office/drawing/2014/main" id="{4362A55D-1F83-D62F-C7A8-0DCC77AF06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8050" y="4546248"/>
            <a:ext cx="540000" cy="540000"/>
          </a:xfrm>
          <a:prstGeom prst="rect">
            <a:avLst/>
          </a:prstGeom>
        </p:spPr>
      </p:pic>
      <p:pic>
        <p:nvPicPr>
          <p:cNvPr id="89" name="Grafik 88" descr="Gebäude mit einfarbiger Füllung">
            <a:extLst>
              <a:ext uri="{FF2B5EF4-FFF2-40B4-BE49-F238E27FC236}">
                <a16:creationId xmlns:a16="http://schemas.microsoft.com/office/drawing/2014/main" id="{D2C9CF9B-C966-DFB2-2809-B78715AFE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2213" y="1844038"/>
            <a:ext cx="720000" cy="720000"/>
          </a:xfrm>
          <a:prstGeom prst="rect">
            <a:avLst/>
          </a:prstGeom>
        </p:spPr>
      </p:pic>
      <p:pic>
        <p:nvPicPr>
          <p:cNvPr id="91" name="Grafik 90" descr="Kran mit einfarbiger Füllung">
            <a:extLst>
              <a:ext uri="{FF2B5EF4-FFF2-40B4-BE49-F238E27FC236}">
                <a16:creationId xmlns:a16="http://schemas.microsoft.com/office/drawing/2014/main" id="{9A3E9FE3-7380-A216-76FF-627F8C1EA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0085" y="1844038"/>
            <a:ext cx="720000" cy="720000"/>
          </a:xfrm>
          <a:prstGeom prst="rect">
            <a:avLst/>
          </a:prstGeom>
        </p:spPr>
      </p:pic>
      <p:pic>
        <p:nvPicPr>
          <p:cNvPr id="93" name="Grafik 92" descr="Offene Hand mit Pflanze mit einfarbiger Füllung">
            <a:extLst>
              <a:ext uri="{FF2B5EF4-FFF2-40B4-BE49-F238E27FC236}">
                <a16:creationId xmlns:a16="http://schemas.microsoft.com/office/drawing/2014/main" id="{4D707EEB-B21C-008A-7708-DA80A0F8C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2213" y="4456248"/>
            <a:ext cx="720000" cy="720000"/>
          </a:xfrm>
          <a:prstGeom prst="rect">
            <a:avLst/>
          </a:prstGeom>
        </p:spPr>
      </p:pic>
      <p:pic>
        <p:nvPicPr>
          <p:cNvPr id="95" name="Grafik 94" descr="Zug mit einfarbiger Füllung">
            <a:extLst>
              <a:ext uri="{FF2B5EF4-FFF2-40B4-BE49-F238E27FC236}">
                <a16:creationId xmlns:a16="http://schemas.microsoft.com/office/drawing/2014/main" id="{06331FEF-2548-A413-B2E7-EACC94903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3888" y="1844038"/>
            <a:ext cx="720000" cy="720000"/>
          </a:xfrm>
          <a:prstGeom prst="rect">
            <a:avLst/>
          </a:prstGeom>
        </p:spPr>
      </p:pic>
      <p:pic>
        <p:nvPicPr>
          <p:cNvPr id="97" name="Grafik 96" descr="Straßenbahnwagen mit einfarbiger Füllung">
            <a:extLst>
              <a:ext uri="{FF2B5EF4-FFF2-40B4-BE49-F238E27FC236}">
                <a16:creationId xmlns:a16="http://schemas.microsoft.com/office/drawing/2014/main" id="{5E4450E8-0920-BE4F-E5A0-802A3B8E2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8200" y="1844038"/>
            <a:ext cx="720000" cy="720000"/>
          </a:xfrm>
          <a:prstGeom prst="rect">
            <a:avLst/>
          </a:prstGeom>
        </p:spPr>
      </p:pic>
      <p:pic>
        <p:nvPicPr>
          <p:cNvPr id="4" name="Grafik 3" descr="Fabrik mit einfarbiger Füllung">
            <a:extLst>
              <a:ext uri="{FF2B5EF4-FFF2-40B4-BE49-F238E27FC236}">
                <a16:creationId xmlns:a16="http://schemas.microsoft.com/office/drawing/2014/main" id="{AA556984-74D9-D410-B408-219BFA5E4B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73888" y="4413511"/>
            <a:ext cx="720000" cy="720000"/>
          </a:xfrm>
          <a:prstGeom prst="rect">
            <a:avLst/>
          </a:prstGeom>
        </p:spPr>
      </p:pic>
      <p:pic>
        <p:nvPicPr>
          <p:cNvPr id="5" name="!!Vorstellung" descr="Bauarbeiter mit einfarbiger Füllung">
            <a:extLst>
              <a:ext uri="{FF2B5EF4-FFF2-40B4-BE49-F238E27FC236}">
                <a16:creationId xmlns:a16="http://schemas.microsoft.com/office/drawing/2014/main" id="{57CBB901-842A-F9B0-3896-6534DC23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3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A2C99D-698D-76DA-530E-FD5DF4D0E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66D3A4B3-3780-DC1B-B240-3FA0B38B4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099DB7C-D7EC-870C-0F4D-843148BF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126CB5C-919B-DD21-88DA-3DA63BDD467E}"/>
              </a:ext>
            </a:extLst>
          </p:cNvPr>
          <p:cNvSpPr/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34" name="Textplatzhalter 2">
            <a:extLst>
              <a:ext uri="{FF2B5EF4-FFF2-40B4-BE49-F238E27FC236}">
                <a16:creationId xmlns:a16="http://schemas.microsoft.com/office/drawing/2014/main" id="{BC22AF1D-3AED-7935-5F7F-4C6B8262EF65}"/>
              </a:ext>
            </a:extLst>
          </p:cNvPr>
          <p:cNvSpPr txBox="1">
            <a:spLocks/>
          </p:cNvSpPr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Ausgangssituation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Bahnsteig 1: 253 m, Bahnsteig 2: 243 m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Bahnsteige nur 38 cm über SO </a:t>
            </a:r>
            <a:r>
              <a:rPr lang="de-DE" sz="1400" dirty="0">
                <a:sym typeface="Wingdings" panose="05000000000000000000" pitchFamily="2" charset="2"/>
              </a:rPr>
              <a:t> </a:t>
            </a:r>
            <a:r>
              <a:rPr lang="de-DE" sz="1400" dirty="0"/>
              <a:t>nicht barrierefrei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Kein Blindenleitstreifen vorhanden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Bahnsteig 2 kaum ausgestattet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Schlechter baulicher Zustand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C39CDEF5-F4EF-A1D9-792F-77D3CDB8A446}"/>
              </a:ext>
            </a:extLst>
          </p:cNvPr>
          <p:cNvSpPr/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38" name="Textplatzhalter 2">
            <a:extLst>
              <a:ext uri="{FF2B5EF4-FFF2-40B4-BE49-F238E27FC236}">
                <a16:creationId xmlns:a16="http://schemas.microsoft.com/office/drawing/2014/main" id="{CC0B1B3F-58D7-6F9E-195C-D69062F9FF8D}"/>
              </a:ext>
            </a:extLst>
          </p:cNvPr>
          <p:cNvSpPr txBox="1">
            <a:spLocks/>
          </p:cNvSpPr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EB891B"/>
              </a:buClr>
              <a:buNone/>
            </a:pPr>
            <a:r>
              <a:rPr lang="de-DE" sz="1600" dirty="0">
                <a:latin typeface="DB Neo Screen Head Black" pitchFamily="2" charset="0"/>
              </a:rPr>
              <a:t>Zielsetzung</a:t>
            </a:r>
          </a:p>
          <a:p>
            <a:pPr marL="0" indent="0" algn="ctr">
              <a:buClr>
                <a:srgbClr val="EB891B"/>
              </a:buClr>
              <a:buNone/>
            </a:pPr>
            <a:endParaRPr lang="de-DE" sz="1200" dirty="0">
              <a:latin typeface="DB Neo Screen Head Black" pitchFamily="2" charset="0"/>
            </a:endParaRP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Neubau mit einer Bahnsteiglänge von je 170 m 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Herstellen der Barrierefreiheit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Erhöhung auf 76 cm SO &amp; Blindenleitsystem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Ausstattung nach Kat 6 (Wetterschutz, Beleuchtung etc.)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/>
              <a:t>Neue Zuwegungen und Vorplatz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88DEAB82-15E9-2C30-07E2-234BFAC3336D}"/>
              </a:ext>
            </a:extLst>
          </p:cNvPr>
          <p:cNvSpPr/>
          <p:nvPr/>
        </p:nvSpPr>
        <p:spPr>
          <a:xfrm>
            <a:off x="625304" y="1273104"/>
            <a:ext cx="5040000" cy="4804287"/>
          </a:xfrm>
          <a:prstGeom prst="roundRect">
            <a:avLst>
              <a:gd name="adj" fmla="val 5732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885CDA00-6AFF-43DD-E485-86CD89B1585A}"/>
              </a:ext>
            </a:extLst>
          </p:cNvPr>
          <p:cNvSpPr txBox="1"/>
          <p:nvPr/>
        </p:nvSpPr>
        <p:spPr>
          <a:xfrm>
            <a:off x="715111" y="1364406"/>
            <a:ext cx="4854227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Clr>
                <a:srgbClr val="EB891B"/>
              </a:buClr>
            </a:pPr>
            <a: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  <a:t>Haltepunkt Roigheim</a:t>
            </a:r>
          </a:p>
          <a:p>
            <a:pPr>
              <a:lnSpc>
                <a:spcPct val="140000"/>
              </a:lnSpc>
              <a:buClr>
                <a:srgbClr val="EB891B"/>
              </a:buClr>
            </a:pPr>
            <a:r>
              <a:rPr lang="de-DE" sz="1200" dirty="0" err="1">
                <a:solidFill>
                  <a:srgbClr val="20426E"/>
                </a:solidFill>
                <a:latin typeface="DB Neo Office" pitchFamily="2" charset="0"/>
              </a:rPr>
              <a:t>VzG</a:t>
            </a:r>
            <a:r>
              <a:rPr lang="de-DE" sz="1200" dirty="0">
                <a:solidFill>
                  <a:srgbClr val="20426E"/>
                </a:solidFill>
                <a:latin typeface="DB Neo Office" pitchFamily="2" charset="0"/>
              </a:rPr>
              <a:t> 4900 – km 91,1+59</a:t>
            </a:r>
          </a:p>
        </p:txBody>
      </p: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695E4D0C-D745-4217-60B7-DFA1736D0CEC}"/>
              </a:ext>
            </a:extLst>
          </p:cNvPr>
          <p:cNvGrpSpPr/>
          <p:nvPr/>
        </p:nvGrpSpPr>
        <p:grpSpPr>
          <a:xfrm>
            <a:off x="515938" y="1970718"/>
            <a:ext cx="5226103" cy="1276976"/>
            <a:chOff x="182307" y="1301749"/>
            <a:chExt cx="11175904" cy="2730785"/>
          </a:xfrm>
        </p:grpSpPr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0ADADDB1-5074-8787-EA90-72A2BA469907}"/>
                </a:ext>
              </a:extLst>
            </p:cNvPr>
            <p:cNvSpPr/>
            <p:nvPr/>
          </p:nvSpPr>
          <p:spPr>
            <a:xfrm>
              <a:off x="1581150" y="2190253"/>
              <a:ext cx="8363154" cy="1632706"/>
            </a:xfrm>
            <a:custGeom>
              <a:avLst/>
              <a:gdLst>
                <a:gd name="csX0" fmla="*/ 0 w 8363154"/>
                <a:gd name="csY0" fmla="*/ 171947 h 1632706"/>
                <a:gd name="csX1" fmla="*/ 139700 w 8363154"/>
                <a:gd name="csY1" fmla="*/ 95747 h 1632706"/>
                <a:gd name="csX2" fmla="*/ 514350 w 8363154"/>
                <a:gd name="csY2" fmla="*/ 121147 h 1632706"/>
                <a:gd name="csX3" fmla="*/ 660400 w 8363154"/>
                <a:gd name="csY3" fmla="*/ 190997 h 1632706"/>
                <a:gd name="csX4" fmla="*/ 838200 w 8363154"/>
                <a:gd name="csY4" fmla="*/ 267197 h 1632706"/>
                <a:gd name="csX5" fmla="*/ 1073150 w 8363154"/>
                <a:gd name="csY5" fmla="*/ 216397 h 1632706"/>
                <a:gd name="csX6" fmla="*/ 1231900 w 8363154"/>
                <a:gd name="csY6" fmla="*/ 108447 h 1632706"/>
                <a:gd name="csX7" fmla="*/ 1428750 w 8363154"/>
                <a:gd name="csY7" fmla="*/ 13197 h 1632706"/>
                <a:gd name="csX8" fmla="*/ 1524000 w 8363154"/>
                <a:gd name="csY8" fmla="*/ 6847 h 1632706"/>
                <a:gd name="csX9" fmla="*/ 1568450 w 8363154"/>
                <a:gd name="csY9" fmla="*/ 70347 h 1632706"/>
                <a:gd name="csX10" fmla="*/ 1593850 w 8363154"/>
                <a:gd name="csY10" fmla="*/ 140197 h 1632706"/>
                <a:gd name="csX11" fmla="*/ 1562100 w 8363154"/>
                <a:gd name="csY11" fmla="*/ 267197 h 1632706"/>
                <a:gd name="csX12" fmla="*/ 1543050 w 8363154"/>
                <a:gd name="csY12" fmla="*/ 394197 h 1632706"/>
                <a:gd name="csX13" fmla="*/ 1581150 w 8363154"/>
                <a:gd name="csY13" fmla="*/ 483097 h 1632706"/>
                <a:gd name="csX14" fmla="*/ 1631950 w 8363154"/>
                <a:gd name="csY14" fmla="*/ 521197 h 1632706"/>
                <a:gd name="csX15" fmla="*/ 1746250 w 8363154"/>
                <a:gd name="csY15" fmla="*/ 527547 h 1632706"/>
                <a:gd name="csX16" fmla="*/ 1854200 w 8363154"/>
                <a:gd name="csY16" fmla="*/ 533897 h 1632706"/>
                <a:gd name="csX17" fmla="*/ 2006600 w 8363154"/>
                <a:gd name="csY17" fmla="*/ 502147 h 1632706"/>
                <a:gd name="csX18" fmla="*/ 2114550 w 8363154"/>
                <a:gd name="csY18" fmla="*/ 464047 h 1632706"/>
                <a:gd name="csX19" fmla="*/ 2190750 w 8363154"/>
                <a:gd name="csY19" fmla="*/ 400547 h 1632706"/>
                <a:gd name="csX20" fmla="*/ 2216150 w 8363154"/>
                <a:gd name="csY20" fmla="*/ 311647 h 1632706"/>
                <a:gd name="csX21" fmla="*/ 2330450 w 8363154"/>
                <a:gd name="csY21" fmla="*/ 311647 h 1632706"/>
                <a:gd name="csX22" fmla="*/ 2406650 w 8363154"/>
                <a:gd name="csY22" fmla="*/ 337047 h 1632706"/>
                <a:gd name="csX23" fmla="*/ 2413000 w 8363154"/>
                <a:gd name="csY23" fmla="*/ 394197 h 1632706"/>
                <a:gd name="csX24" fmla="*/ 2444750 w 8363154"/>
                <a:gd name="csY24" fmla="*/ 444997 h 1632706"/>
                <a:gd name="csX25" fmla="*/ 2578100 w 8363154"/>
                <a:gd name="csY25" fmla="*/ 527547 h 1632706"/>
                <a:gd name="csX26" fmla="*/ 2603500 w 8363154"/>
                <a:gd name="csY26" fmla="*/ 540247 h 1632706"/>
                <a:gd name="csX27" fmla="*/ 2635250 w 8363154"/>
                <a:gd name="csY27" fmla="*/ 603747 h 1632706"/>
                <a:gd name="csX28" fmla="*/ 2654300 w 8363154"/>
                <a:gd name="csY28" fmla="*/ 698997 h 1632706"/>
                <a:gd name="csX29" fmla="*/ 2622550 w 8363154"/>
                <a:gd name="csY29" fmla="*/ 762497 h 1632706"/>
                <a:gd name="csX30" fmla="*/ 2628900 w 8363154"/>
                <a:gd name="csY30" fmla="*/ 845047 h 1632706"/>
                <a:gd name="csX31" fmla="*/ 2686050 w 8363154"/>
                <a:gd name="csY31" fmla="*/ 946647 h 1632706"/>
                <a:gd name="csX32" fmla="*/ 2794000 w 8363154"/>
                <a:gd name="csY32" fmla="*/ 997447 h 1632706"/>
                <a:gd name="csX33" fmla="*/ 2863850 w 8363154"/>
                <a:gd name="csY33" fmla="*/ 972047 h 1632706"/>
                <a:gd name="csX34" fmla="*/ 3041650 w 8363154"/>
                <a:gd name="csY34" fmla="*/ 946647 h 1632706"/>
                <a:gd name="csX35" fmla="*/ 3155950 w 8363154"/>
                <a:gd name="csY35" fmla="*/ 902197 h 1632706"/>
                <a:gd name="csX36" fmla="*/ 3263900 w 8363154"/>
                <a:gd name="csY36" fmla="*/ 914897 h 1632706"/>
                <a:gd name="csX37" fmla="*/ 3282950 w 8363154"/>
                <a:gd name="csY37" fmla="*/ 997447 h 1632706"/>
                <a:gd name="csX38" fmla="*/ 3238500 w 8363154"/>
                <a:gd name="csY38" fmla="*/ 1118097 h 1632706"/>
                <a:gd name="csX39" fmla="*/ 3200400 w 8363154"/>
                <a:gd name="csY39" fmla="*/ 1238747 h 1632706"/>
                <a:gd name="csX40" fmla="*/ 3194050 w 8363154"/>
                <a:gd name="csY40" fmla="*/ 1359397 h 1632706"/>
                <a:gd name="csX41" fmla="*/ 3270250 w 8363154"/>
                <a:gd name="csY41" fmla="*/ 1429247 h 1632706"/>
                <a:gd name="csX42" fmla="*/ 3403600 w 8363154"/>
                <a:gd name="csY42" fmla="*/ 1448297 h 1632706"/>
                <a:gd name="csX43" fmla="*/ 3543300 w 8363154"/>
                <a:gd name="csY43" fmla="*/ 1391147 h 1632706"/>
                <a:gd name="csX44" fmla="*/ 3594100 w 8363154"/>
                <a:gd name="csY44" fmla="*/ 1327647 h 1632706"/>
                <a:gd name="csX45" fmla="*/ 3727450 w 8363154"/>
                <a:gd name="csY45" fmla="*/ 1340347 h 1632706"/>
                <a:gd name="csX46" fmla="*/ 3854450 w 8363154"/>
                <a:gd name="csY46" fmla="*/ 1391147 h 1632706"/>
                <a:gd name="csX47" fmla="*/ 3924300 w 8363154"/>
                <a:gd name="csY47" fmla="*/ 1460997 h 1632706"/>
                <a:gd name="csX48" fmla="*/ 3981450 w 8363154"/>
                <a:gd name="csY48" fmla="*/ 1562597 h 1632706"/>
                <a:gd name="csX49" fmla="*/ 4133850 w 8363154"/>
                <a:gd name="csY49" fmla="*/ 1632447 h 1632706"/>
                <a:gd name="csX50" fmla="*/ 4292600 w 8363154"/>
                <a:gd name="csY50" fmla="*/ 1581647 h 1632706"/>
                <a:gd name="csX51" fmla="*/ 4387850 w 8363154"/>
                <a:gd name="csY51" fmla="*/ 1467347 h 1632706"/>
                <a:gd name="csX52" fmla="*/ 4502150 w 8363154"/>
                <a:gd name="csY52" fmla="*/ 1365747 h 1632706"/>
                <a:gd name="csX53" fmla="*/ 4622800 w 8363154"/>
                <a:gd name="csY53" fmla="*/ 1245097 h 1632706"/>
                <a:gd name="csX54" fmla="*/ 4654550 w 8363154"/>
                <a:gd name="csY54" fmla="*/ 1079997 h 1632706"/>
                <a:gd name="csX55" fmla="*/ 4787900 w 8363154"/>
                <a:gd name="csY55" fmla="*/ 883147 h 1632706"/>
                <a:gd name="csX56" fmla="*/ 4902200 w 8363154"/>
                <a:gd name="csY56" fmla="*/ 819647 h 1632706"/>
                <a:gd name="csX57" fmla="*/ 5111750 w 8363154"/>
                <a:gd name="csY57" fmla="*/ 813297 h 1632706"/>
                <a:gd name="csX58" fmla="*/ 5378450 w 8363154"/>
                <a:gd name="csY58" fmla="*/ 565647 h 1632706"/>
                <a:gd name="csX59" fmla="*/ 5321300 w 8363154"/>
                <a:gd name="csY59" fmla="*/ 375147 h 1632706"/>
                <a:gd name="csX60" fmla="*/ 5340350 w 8363154"/>
                <a:gd name="csY60" fmla="*/ 210047 h 1632706"/>
                <a:gd name="csX61" fmla="*/ 5543550 w 8363154"/>
                <a:gd name="csY61" fmla="*/ 140197 h 1632706"/>
                <a:gd name="csX62" fmla="*/ 6070600 w 8363154"/>
                <a:gd name="csY62" fmla="*/ 362447 h 1632706"/>
                <a:gd name="csX63" fmla="*/ 6292850 w 8363154"/>
                <a:gd name="csY63" fmla="*/ 368797 h 1632706"/>
                <a:gd name="csX64" fmla="*/ 6527800 w 8363154"/>
                <a:gd name="csY64" fmla="*/ 571997 h 1632706"/>
                <a:gd name="csX65" fmla="*/ 6864350 w 8363154"/>
                <a:gd name="csY65" fmla="*/ 514847 h 1632706"/>
                <a:gd name="csX66" fmla="*/ 7054850 w 8363154"/>
                <a:gd name="csY66" fmla="*/ 451347 h 1632706"/>
                <a:gd name="csX67" fmla="*/ 7181850 w 8363154"/>
                <a:gd name="csY67" fmla="*/ 235447 h 1632706"/>
                <a:gd name="csX68" fmla="*/ 7423150 w 8363154"/>
                <a:gd name="csY68" fmla="*/ 241797 h 1632706"/>
                <a:gd name="csX69" fmla="*/ 7626350 w 8363154"/>
                <a:gd name="csY69" fmla="*/ 127497 h 1632706"/>
                <a:gd name="csX70" fmla="*/ 7842250 w 8363154"/>
                <a:gd name="csY70" fmla="*/ 140197 h 1632706"/>
                <a:gd name="csX71" fmla="*/ 7988300 w 8363154"/>
                <a:gd name="csY71" fmla="*/ 133847 h 1632706"/>
                <a:gd name="csX72" fmla="*/ 8343900 w 8363154"/>
                <a:gd name="csY72" fmla="*/ 152897 h 1632706"/>
                <a:gd name="csX73" fmla="*/ 8318500 w 8363154"/>
                <a:gd name="csY73" fmla="*/ 165597 h 1632706"/>
                <a:gd name="csX74" fmla="*/ 8318500 w 8363154"/>
                <a:gd name="csY74" fmla="*/ 165597 h 1632706"/>
                <a:gd name="csX0" fmla="*/ 0 w 8363154"/>
                <a:gd name="csY0" fmla="*/ 171947 h 1632706"/>
                <a:gd name="csX1" fmla="*/ 139700 w 8363154"/>
                <a:gd name="csY1" fmla="*/ 95747 h 1632706"/>
                <a:gd name="csX2" fmla="*/ 514350 w 8363154"/>
                <a:gd name="csY2" fmla="*/ 121147 h 1632706"/>
                <a:gd name="csX3" fmla="*/ 660400 w 8363154"/>
                <a:gd name="csY3" fmla="*/ 190997 h 1632706"/>
                <a:gd name="csX4" fmla="*/ 838200 w 8363154"/>
                <a:gd name="csY4" fmla="*/ 267197 h 1632706"/>
                <a:gd name="csX5" fmla="*/ 1073150 w 8363154"/>
                <a:gd name="csY5" fmla="*/ 216397 h 1632706"/>
                <a:gd name="csX6" fmla="*/ 1231900 w 8363154"/>
                <a:gd name="csY6" fmla="*/ 108447 h 1632706"/>
                <a:gd name="csX7" fmla="*/ 1428750 w 8363154"/>
                <a:gd name="csY7" fmla="*/ 13197 h 1632706"/>
                <a:gd name="csX8" fmla="*/ 1524000 w 8363154"/>
                <a:gd name="csY8" fmla="*/ 6847 h 1632706"/>
                <a:gd name="csX9" fmla="*/ 1568450 w 8363154"/>
                <a:gd name="csY9" fmla="*/ 70347 h 1632706"/>
                <a:gd name="csX10" fmla="*/ 1593850 w 8363154"/>
                <a:gd name="csY10" fmla="*/ 140197 h 1632706"/>
                <a:gd name="csX11" fmla="*/ 1562100 w 8363154"/>
                <a:gd name="csY11" fmla="*/ 267197 h 1632706"/>
                <a:gd name="csX12" fmla="*/ 1543050 w 8363154"/>
                <a:gd name="csY12" fmla="*/ 394197 h 1632706"/>
                <a:gd name="csX13" fmla="*/ 1581150 w 8363154"/>
                <a:gd name="csY13" fmla="*/ 483097 h 1632706"/>
                <a:gd name="csX14" fmla="*/ 1631950 w 8363154"/>
                <a:gd name="csY14" fmla="*/ 521197 h 1632706"/>
                <a:gd name="csX15" fmla="*/ 1746250 w 8363154"/>
                <a:gd name="csY15" fmla="*/ 527547 h 1632706"/>
                <a:gd name="csX16" fmla="*/ 1854200 w 8363154"/>
                <a:gd name="csY16" fmla="*/ 533897 h 1632706"/>
                <a:gd name="csX17" fmla="*/ 2006600 w 8363154"/>
                <a:gd name="csY17" fmla="*/ 502147 h 1632706"/>
                <a:gd name="csX18" fmla="*/ 2114550 w 8363154"/>
                <a:gd name="csY18" fmla="*/ 464047 h 1632706"/>
                <a:gd name="csX19" fmla="*/ 2190750 w 8363154"/>
                <a:gd name="csY19" fmla="*/ 400547 h 1632706"/>
                <a:gd name="csX20" fmla="*/ 2216150 w 8363154"/>
                <a:gd name="csY20" fmla="*/ 311647 h 1632706"/>
                <a:gd name="csX21" fmla="*/ 2330450 w 8363154"/>
                <a:gd name="csY21" fmla="*/ 311647 h 1632706"/>
                <a:gd name="csX22" fmla="*/ 2406650 w 8363154"/>
                <a:gd name="csY22" fmla="*/ 337047 h 1632706"/>
                <a:gd name="csX23" fmla="*/ 2413000 w 8363154"/>
                <a:gd name="csY23" fmla="*/ 394197 h 1632706"/>
                <a:gd name="csX24" fmla="*/ 2444750 w 8363154"/>
                <a:gd name="csY24" fmla="*/ 444997 h 1632706"/>
                <a:gd name="csX25" fmla="*/ 2578100 w 8363154"/>
                <a:gd name="csY25" fmla="*/ 527547 h 1632706"/>
                <a:gd name="csX26" fmla="*/ 2610644 w 8363154"/>
                <a:gd name="csY26" fmla="*/ 561679 h 1632706"/>
                <a:gd name="csX27" fmla="*/ 2635250 w 8363154"/>
                <a:gd name="csY27" fmla="*/ 603747 h 1632706"/>
                <a:gd name="csX28" fmla="*/ 2654300 w 8363154"/>
                <a:gd name="csY28" fmla="*/ 698997 h 1632706"/>
                <a:gd name="csX29" fmla="*/ 2622550 w 8363154"/>
                <a:gd name="csY29" fmla="*/ 762497 h 1632706"/>
                <a:gd name="csX30" fmla="*/ 2628900 w 8363154"/>
                <a:gd name="csY30" fmla="*/ 845047 h 1632706"/>
                <a:gd name="csX31" fmla="*/ 2686050 w 8363154"/>
                <a:gd name="csY31" fmla="*/ 946647 h 1632706"/>
                <a:gd name="csX32" fmla="*/ 2794000 w 8363154"/>
                <a:gd name="csY32" fmla="*/ 997447 h 1632706"/>
                <a:gd name="csX33" fmla="*/ 2863850 w 8363154"/>
                <a:gd name="csY33" fmla="*/ 972047 h 1632706"/>
                <a:gd name="csX34" fmla="*/ 3041650 w 8363154"/>
                <a:gd name="csY34" fmla="*/ 946647 h 1632706"/>
                <a:gd name="csX35" fmla="*/ 3155950 w 8363154"/>
                <a:gd name="csY35" fmla="*/ 902197 h 1632706"/>
                <a:gd name="csX36" fmla="*/ 3263900 w 8363154"/>
                <a:gd name="csY36" fmla="*/ 914897 h 1632706"/>
                <a:gd name="csX37" fmla="*/ 3282950 w 8363154"/>
                <a:gd name="csY37" fmla="*/ 997447 h 1632706"/>
                <a:gd name="csX38" fmla="*/ 3238500 w 8363154"/>
                <a:gd name="csY38" fmla="*/ 1118097 h 1632706"/>
                <a:gd name="csX39" fmla="*/ 3200400 w 8363154"/>
                <a:gd name="csY39" fmla="*/ 1238747 h 1632706"/>
                <a:gd name="csX40" fmla="*/ 3194050 w 8363154"/>
                <a:gd name="csY40" fmla="*/ 1359397 h 1632706"/>
                <a:gd name="csX41" fmla="*/ 3270250 w 8363154"/>
                <a:gd name="csY41" fmla="*/ 1429247 h 1632706"/>
                <a:gd name="csX42" fmla="*/ 3403600 w 8363154"/>
                <a:gd name="csY42" fmla="*/ 1448297 h 1632706"/>
                <a:gd name="csX43" fmla="*/ 3543300 w 8363154"/>
                <a:gd name="csY43" fmla="*/ 1391147 h 1632706"/>
                <a:gd name="csX44" fmla="*/ 3594100 w 8363154"/>
                <a:gd name="csY44" fmla="*/ 1327647 h 1632706"/>
                <a:gd name="csX45" fmla="*/ 3727450 w 8363154"/>
                <a:gd name="csY45" fmla="*/ 1340347 h 1632706"/>
                <a:gd name="csX46" fmla="*/ 3854450 w 8363154"/>
                <a:gd name="csY46" fmla="*/ 1391147 h 1632706"/>
                <a:gd name="csX47" fmla="*/ 3924300 w 8363154"/>
                <a:gd name="csY47" fmla="*/ 1460997 h 1632706"/>
                <a:gd name="csX48" fmla="*/ 3981450 w 8363154"/>
                <a:gd name="csY48" fmla="*/ 1562597 h 1632706"/>
                <a:gd name="csX49" fmla="*/ 4133850 w 8363154"/>
                <a:gd name="csY49" fmla="*/ 1632447 h 1632706"/>
                <a:gd name="csX50" fmla="*/ 4292600 w 8363154"/>
                <a:gd name="csY50" fmla="*/ 1581647 h 1632706"/>
                <a:gd name="csX51" fmla="*/ 4387850 w 8363154"/>
                <a:gd name="csY51" fmla="*/ 1467347 h 1632706"/>
                <a:gd name="csX52" fmla="*/ 4502150 w 8363154"/>
                <a:gd name="csY52" fmla="*/ 1365747 h 1632706"/>
                <a:gd name="csX53" fmla="*/ 4622800 w 8363154"/>
                <a:gd name="csY53" fmla="*/ 1245097 h 1632706"/>
                <a:gd name="csX54" fmla="*/ 4654550 w 8363154"/>
                <a:gd name="csY54" fmla="*/ 1079997 h 1632706"/>
                <a:gd name="csX55" fmla="*/ 4787900 w 8363154"/>
                <a:gd name="csY55" fmla="*/ 883147 h 1632706"/>
                <a:gd name="csX56" fmla="*/ 4902200 w 8363154"/>
                <a:gd name="csY56" fmla="*/ 819647 h 1632706"/>
                <a:gd name="csX57" fmla="*/ 5111750 w 8363154"/>
                <a:gd name="csY57" fmla="*/ 813297 h 1632706"/>
                <a:gd name="csX58" fmla="*/ 5378450 w 8363154"/>
                <a:gd name="csY58" fmla="*/ 565647 h 1632706"/>
                <a:gd name="csX59" fmla="*/ 5321300 w 8363154"/>
                <a:gd name="csY59" fmla="*/ 375147 h 1632706"/>
                <a:gd name="csX60" fmla="*/ 5340350 w 8363154"/>
                <a:gd name="csY60" fmla="*/ 210047 h 1632706"/>
                <a:gd name="csX61" fmla="*/ 5543550 w 8363154"/>
                <a:gd name="csY61" fmla="*/ 140197 h 1632706"/>
                <a:gd name="csX62" fmla="*/ 6070600 w 8363154"/>
                <a:gd name="csY62" fmla="*/ 362447 h 1632706"/>
                <a:gd name="csX63" fmla="*/ 6292850 w 8363154"/>
                <a:gd name="csY63" fmla="*/ 368797 h 1632706"/>
                <a:gd name="csX64" fmla="*/ 6527800 w 8363154"/>
                <a:gd name="csY64" fmla="*/ 571997 h 1632706"/>
                <a:gd name="csX65" fmla="*/ 6864350 w 8363154"/>
                <a:gd name="csY65" fmla="*/ 514847 h 1632706"/>
                <a:gd name="csX66" fmla="*/ 7054850 w 8363154"/>
                <a:gd name="csY66" fmla="*/ 451347 h 1632706"/>
                <a:gd name="csX67" fmla="*/ 7181850 w 8363154"/>
                <a:gd name="csY67" fmla="*/ 235447 h 1632706"/>
                <a:gd name="csX68" fmla="*/ 7423150 w 8363154"/>
                <a:gd name="csY68" fmla="*/ 241797 h 1632706"/>
                <a:gd name="csX69" fmla="*/ 7626350 w 8363154"/>
                <a:gd name="csY69" fmla="*/ 127497 h 1632706"/>
                <a:gd name="csX70" fmla="*/ 7842250 w 8363154"/>
                <a:gd name="csY70" fmla="*/ 140197 h 1632706"/>
                <a:gd name="csX71" fmla="*/ 7988300 w 8363154"/>
                <a:gd name="csY71" fmla="*/ 133847 h 1632706"/>
                <a:gd name="csX72" fmla="*/ 8343900 w 8363154"/>
                <a:gd name="csY72" fmla="*/ 152897 h 1632706"/>
                <a:gd name="csX73" fmla="*/ 8318500 w 8363154"/>
                <a:gd name="csY73" fmla="*/ 165597 h 1632706"/>
                <a:gd name="csX74" fmla="*/ 8318500 w 8363154"/>
                <a:gd name="csY74" fmla="*/ 165597 h 16327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8363154" h="1632706">
                  <a:moveTo>
                    <a:pt x="0" y="171947"/>
                  </a:moveTo>
                  <a:cubicBezTo>
                    <a:pt x="26987" y="138080"/>
                    <a:pt x="53975" y="104214"/>
                    <a:pt x="139700" y="95747"/>
                  </a:cubicBezTo>
                  <a:cubicBezTo>
                    <a:pt x="225425" y="87280"/>
                    <a:pt x="427567" y="105272"/>
                    <a:pt x="514350" y="121147"/>
                  </a:cubicBezTo>
                  <a:cubicBezTo>
                    <a:pt x="601133" y="137022"/>
                    <a:pt x="606425" y="166655"/>
                    <a:pt x="660400" y="190997"/>
                  </a:cubicBezTo>
                  <a:cubicBezTo>
                    <a:pt x="714375" y="215339"/>
                    <a:pt x="769408" y="262964"/>
                    <a:pt x="838200" y="267197"/>
                  </a:cubicBezTo>
                  <a:cubicBezTo>
                    <a:pt x="906992" y="271430"/>
                    <a:pt x="1007533" y="242855"/>
                    <a:pt x="1073150" y="216397"/>
                  </a:cubicBezTo>
                  <a:cubicBezTo>
                    <a:pt x="1138767" y="189939"/>
                    <a:pt x="1172633" y="142314"/>
                    <a:pt x="1231900" y="108447"/>
                  </a:cubicBezTo>
                  <a:cubicBezTo>
                    <a:pt x="1291167" y="74580"/>
                    <a:pt x="1380067" y="30130"/>
                    <a:pt x="1428750" y="13197"/>
                  </a:cubicBezTo>
                  <a:cubicBezTo>
                    <a:pt x="1477433" y="-3736"/>
                    <a:pt x="1500717" y="-2678"/>
                    <a:pt x="1524000" y="6847"/>
                  </a:cubicBezTo>
                  <a:cubicBezTo>
                    <a:pt x="1547283" y="16372"/>
                    <a:pt x="1556808" y="48122"/>
                    <a:pt x="1568450" y="70347"/>
                  </a:cubicBezTo>
                  <a:cubicBezTo>
                    <a:pt x="1580092" y="92572"/>
                    <a:pt x="1594908" y="107389"/>
                    <a:pt x="1593850" y="140197"/>
                  </a:cubicBezTo>
                  <a:cubicBezTo>
                    <a:pt x="1592792" y="173005"/>
                    <a:pt x="1570567" y="224864"/>
                    <a:pt x="1562100" y="267197"/>
                  </a:cubicBezTo>
                  <a:cubicBezTo>
                    <a:pt x="1553633" y="309530"/>
                    <a:pt x="1539875" y="358214"/>
                    <a:pt x="1543050" y="394197"/>
                  </a:cubicBezTo>
                  <a:cubicBezTo>
                    <a:pt x="1546225" y="430180"/>
                    <a:pt x="1566333" y="461930"/>
                    <a:pt x="1581150" y="483097"/>
                  </a:cubicBezTo>
                  <a:cubicBezTo>
                    <a:pt x="1595967" y="504264"/>
                    <a:pt x="1604433" y="513789"/>
                    <a:pt x="1631950" y="521197"/>
                  </a:cubicBezTo>
                  <a:cubicBezTo>
                    <a:pt x="1659467" y="528605"/>
                    <a:pt x="1746250" y="527547"/>
                    <a:pt x="1746250" y="527547"/>
                  </a:cubicBezTo>
                  <a:cubicBezTo>
                    <a:pt x="1783292" y="529664"/>
                    <a:pt x="1810808" y="538130"/>
                    <a:pt x="1854200" y="533897"/>
                  </a:cubicBezTo>
                  <a:cubicBezTo>
                    <a:pt x="1897592" y="529664"/>
                    <a:pt x="1963208" y="513789"/>
                    <a:pt x="2006600" y="502147"/>
                  </a:cubicBezTo>
                  <a:cubicBezTo>
                    <a:pt x="2049992" y="490505"/>
                    <a:pt x="2083858" y="480980"/>
                    <a:pt x="2114550" y="464047"/>
                  </a:cubicBezTo>
                  <a:cubicBezTo>
                    <a:pt x="2145242" y="447114"/>
                    <a:pt x="2173817" y="425947"/>
                    <a:pt x="2190750" y="400547"/>
                  </a:cubicBezTo>
                  <a:cubicBezTo>
                    <a:pt x="2207683" y="375147"/>
                    <a:pt x="2192867" y="326464"/>
                    <a:pt x="2216150" y="311647"/>
                  </a:cubicBezTo>
                  <a:cubicBezTo>
                    <a:pt x="2239433" y="296830"/>
                    <a:pt x="2298700" y="307414"/>
                    <a:pt x="2330450" y="311647"/>
                  </a:cubicBezTo>
                  <a:cubicBezTo>
                    <a:pt x="2362200" y="315880"/>
                    <a:pt x="2392892" y="323289"/>
                    <a:pt x="2406650" y="337047"/>
                  </a:cubicBezTo>
                  <a:cubicBezTo>
                    <a:pt x="2420408" y="350805"/>
                    <a:pt x="2406650" y="376205"/>
                    <a:pt x="2413000" y="394197"/>
                  </a:cubicBezTo>
                  <a:cubicBezTo>
                    <a:pt x="2419350" y="412189"/>
                    <a:pt x="2417233" y="422772"/>
                    <a:pt x="2444750" y="444997"/>
                  </a:cubicBezTo>
                  <a:cubicBezTo>
                    <a:pt x="2472267" y="467222"/>
                    <a:pt x="2550451" y="508100"/>
                    <a:pt x="2578100" y="527547"/>
                  </a:cubicBezTo>
                  <a:cubicBezTo>
                    <a:pt x="2605749" y="546994"/>
                    <a:pt x="2601119" y="548979"/>
                    <a:pt x="2610644" y="561679"/>
                  </a:cubicBezTo>
                  <a:cubicBezTo>
                    <a:pt x="2620169" y="574379"/>
                    <a:pt x="2627974" y="580861"/>
                    <a:pt x="2635250" y="603747"/>
                  </a:cubicBezTo>
                  <a:cubicBezTo>
                    <a:pt x="2642526" y="626633"/>
                    <a:pt x="2656417" y="672539"/>
                    <a:pt x="2654300" y="698997"/>
                  </a:cubicBezTo>
                  <a:cubicBezTo>
                    <a:pt x="2652183" y="725455"/>
                    <a:pt x="2626783" y="738155"/>
                    <a:pt x="2622550" y="762497"/>
                  </a:cubicBezTo>
                  <a:cubicBezTo>
                    <a:pt x="2618317" y="786839"/>
                    <a:pt x="2618317" y="814355"/>
                    <a:pt x="2628900" y="845047"/>
                  </a:cubicBezTo>
                  <a:cubicBezTo>
                    <a:pt x="2639483" y="875739"/>
                    <a:pt x="2658533" y="921247"/>
                    <a:pt x="2686050" y="946647"/>
                  </a:cubicBezTo>
                  <a:cubicBezTo>
                    <a:pt x="2713567" y="972047"/>
                    <a:pt x="2764367" y="993214"/>
                    <a:pt x="2794000" y="997447"/>
                  </a:cubicBezTo>
                  <a:cubicBezTo>
                    <a:pt x="2823633" y="1001680"/>
                    <a:pt x="2822575" y="980514"/>
                    <a:pt x="2863850" y="972047"/>
                  </a:cubicBezTo>
                  <a:cubicBezTo>
                    <a:pt x="2905125" y="963580"/>
                    <a:pt x="2992967" y="958289"/>
                    <a:pt x="3041650" y="946647"/>
                  </a:cubicBezTo>
                  <a:cubicBezTo>
                    <a:pt x="3090333" y="935005"/>
                    <a:pt x="3118908" y="907489"/>
                    <a:pt x="3155950" y="902197"/>
                  </a:cubicBezTo>
                  <a:cubicBezTo>
                    <a:pt x="3192992" y="896905"/>
                    <a:pt x="3242733" y="899022"/>
                    <a:pt x="3263900" y="914897"/>
                  </a:cubicBezTo>
                  <a:cubicBezTo>
                    <a:pt x="3285067" y="930772"/>
                    <a:pt x="3287183" y="963580"/>
                    <a:pt x="3282950" y="997447"/>
                  </a:cubicBezTo>
                  <a:cubicBezTo>
                    <a:pt x="3278717" y="1031314"/>
                    <a:pt x="3252258" y="1077880"/>
                    <a:pt x="3238500" y="1118097"/>
                  </a:cubicBezTo>
                  <a:cubicBezTo>
                    <a:pt x="3224742" y="1158314"/>
                    <a:pt x="3207808" y="1198530"/>
                    <a:pt x="3200400" y="1238747"/>
                  </a:cubicBezTo>
                  <a:cubicBezTo>
                    <a:pt x="3192992" y="1278964"/>
                    <a:pt x="3182408" y="1327647"/>
                    <a:pt x="3194050" y="1359397"/>
                  </a:cubicBezTo>
                  <a:cubicBezTo>
                    <a:pt x="3205692" y="1391147"/>
                    <a:pt x="3235325" y="1414430"/>
                    <a:pt x="3270250" y="1429247"/>
                  </a:cubicBezTo>
                  <a:cubicBezTo>
                    <a:pt x="3305175" y="1444064"/>
                    <a:pt x="3358092" y="1454647"/>
                    <a:pt x="3403600" y="1448297"/>
                  </a:cubicBezTo>
                  <a:cubicBezTo>
                    <a:pt x="3449108" y="1441947"/>
                    <a:pt x="3511550" y="1411255"/>
                    <a:pt x="3543300" y="1391147"/>
                  </a:cubicBezTo>
                  <a:cubicBezTo>
                    <a:pt x="3575050" y="1371039"/>
                    <a:pt x="3563408" y="1336114"/>
                    <a:pt x="3594100" y="1327647"/>
                  </a:cubicBezTo>
                  <a:cubicBezTo>
                    <a:pt x="3624792" y="1319180"/>
                    <a:pt x="3684058" y="1329764"/>
                    <a:pt x="3727450" y="1340347"/>
                  </a:cubicBezTo>
                  <a:cubicBezTo>
                    <a:pt x="3770842" y="1350930"/>
                    <a:pt x="3821642" y="1371039"/>
                    <a:pt x="3854450" y="1391147"/>
                  </a:cubicBezTo>
                  <a:cubicBezTo>
                    <a:pt x="3887258" y="1411255"/>
                    <a:pt x="3903133" y="1432422"/>
                    <a:pt x="3924300" y="1460997"/>
                  </a:cubicBezTo>
                  <a:cubicBezTo>
                    <a:pt x="3945467" y="1489572"/>
                    <a:pt x="3946525" y="1534022"/>
                    <a:pt x="3981450" y="1562597"/>
                  </a:cubicBezTo>
                  <a:cubicBezTo>
                    <a:pt x="4016375" y="1591172"/>
                    <a:pt x="4081992" y="1629272"/>
                    <a:pt x="4133850" y="1632447"/>
                  </a:cubicBezTo>
                  <a:cubicBezTo>
                    <a:pt x="4185708" y="1635622"/>
                    <a:pt x="4250267" y="1609164"/>
                    <a:pt x="4292600" y="1581647"/>
                  </a:cubicBezTo>
                  <a:cubicBezTo>
                    <a:pt x="4334933" y="1554130"/>
                    <a:pt x="4352925" y="1503330"/>
                    <a:pt x="4387850" y="1467347"/>
                  </a:cubicBezTo>
                  <a:cubicBezTo>
                    <a:pt x="4422775" y="1431364"/>
                    <a:pt x="4462992" y="1402789"/>
                    <a:pt x="4502150" y="1365747"/>
                  </a:cubicBezTo>
                  <a:cubicBezTo>
                    <a:pt x="4541308" y="1328705"/>
                    <a:pt x="4597400" y="1292722"/>
                    <a:pt x="4622800" y="1245097"/>
                  </a:cubicBezTo>
                  <a:cubicBezTo>
                    <a:pt x="4648200" y="1197472"/>
                    <a:pt x="4627033" y="1140322"/>
                    <a:pt x="4654550" y="1079997"/>
                  </a:cubicBezTo>
                  <a:cubicBezTo>
                    <a:pt x="4682067" y="1019672"/>
                    <a:pt x="4746625" y="926539"/>
                    <a:pt x="4787900" y="883147"/>
                  </a:cubicBezTo>
                  <a:cubicBezTo>
                    <a:pt x="4829175" y="839755"/>
                    <a:pt x="4848225" y="831289"/>
                    <a:pt x="4902200" y="819647"/>
                  </a:cubicBezTo>
                  <a:cubicBezTo>
                    <a:pt x="4956175" y="808005"/>
                    <a:pt x="5032375" y="855630"/>
                    <a:pt x="5111750" y="813297"/>
                  </a:cubicBezTo>
                  <a:cubicBezTo>
                    <a:pt x="5191125" y="770964"/>
                    <a:pt x="5343525" y="638672"/>
                    <a:pt x="5378450" y="565647"/>
                  </a:cubicBezTo>
                  <a:cubicBezTo>
                    <a:pt x="5413375" y="492622"/>
                    <a:pt x="5327650" y="434414"/>
                    <a:pt x="5321300" y="375147"/>
                  </a:cubicBezTo>
                  <a:cubicBezTo>
                    <a:pt x="5314950" y="315880"/>
                    <a:pt x="5303308" y="249205"/>
                    <a:pt x="5340350" y="210047"/>
                  </a:cubicBezTo>
                  <a:cubicBezTo>
                    <a:pt x="5377392" y="170889"/>
                    <a:pt x="5421842" y="114797"/>
                    <a:pt x="5543550" y="140197"/>
                  </a:cubicBezTo>
                  <a:cubicBezTo>
                    <a:pt x="5665258" y="165597"/>
                    <a:pt x="5945717" y="324347"/>
                    <a:pt x="6070600" y="362447"/>
                  </a:cubicBezTo>
                  <a:cubicBezTo>
                    <a:pt x="6195483" y="400547"/>
                    <a:pt x="6216650" y="333872"/>
                    <a:pt x="6292850" y="368797"/>
                  </a:cubicBezTo>
                  <a:cubicBezTo>
                    <a:pt x="6369050" y="403722"/>
                    <a:pt x="6432550" y="547655"/>
                    <a:pt x="6527800" y="571997"/>
                  </a:cubicBezTo>
                  <a:cubicBezTo>
                    <a:pt x="6623050" y="596339"/>
                    <a:pt x="6776508" y="534955"/>
                    <a:pt x="6864350" y="514847"/>
                  </a:cubicBezTo>
                  <a:cubicBezTo>
                    <a:pt x="6952192" y="494739"/>
                    <a:pt x="7001933" y="497914"/>
                    <a:pt x="7054850" y="451347"/>
                  </a:cubicBezTo>
                  <a:cubicBezTo>
                    <a:pt x="7107767" y="404780"/>
                    <a:pt x="7120467" y="270372"/>
                    <a:pt x="7181850" y="235447"/>
                  </a:cubicBezTo>
                  <a:cubicBezTo>
                    <a:pt x="7243233" y="200522"/>
                    <a:pt x="7349067" y="259789"/>
                    <a:pt x="7423150" y="241797"/>
                  </a:cubicBezTo>
                  <a:cubicBezTo>
                    <a:pt x="7497233" y="223805"/>
                    <a:pt x="7556500" y="144430"/>
                    <a:pt x="7626350" y="127497"/>
                  </a:cubicBezTo>
                  <a:cubicBezTo>
                    <a:pt x="7696200" y="110564"/>
                    <a:pt x="7781925" y="139139"/>
                    <a:pt x="7842250" y="140197"/>
                  </a:cubicBezTo>
                  <a:cubicBezTo>
                    <a:pt x="7902575" y="141255"/>
                    <a:pt x="7904692" y="131730"/>
                    <a:pt x="7988300" y="133847"/>
                  </a:cubicBezTo>
                  <a:cubicBezTo>
                    <a:pt x="8071908" y="135964"/>
                    <a:pt x="8288867" y="147605"/>
                    <a:pt x="8343900" y="152897"/>
                  </a:cubicBezTo>
                  <a:cubicBezTo>
                    <a:pt x="8398933" y="158189"/>
                    <a:pt x="8318500" y="165597"/>
                    <a:pt x="8318500" y="165597"/>
                  </a:cubicBezTo>
                  <a:lnTo>
                    <a:pt x="8318500" y="165597"/>
                  </a:lnTo>
                </a:path>
              </a:pathLst>
            </a:custGeom>
            <a:noFill/>
            <a:ln>
              <a:solidFill>
                <a:srgbClr val="2042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 descr="Harvey Balls 100% mit einfarbiger Füllung">
              <a:extLst>
                <a:ext uri="{FF2B5EF4-FFF2-40B4-BE49-F238E27FC236}">
                  <a16:creationId xmlns:a16="http://schemas.microsoft.com/office/drawing/2014/main" id="{ED8D3A83-D0D2-2C3C-697B-129C8BFF35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90074" y="2190253"/>
              <a:ext cx="360000" cy="360000"/>
            </a:xfrm>
            <a:prstGeom prst="rect">
              <a:avLst/>
            </a:prstGeom>
          </p:spPr>
        </p:pic>
        <p:pic>
          <p:nvPicPr>
            <p:cNvPr id="68" name="Grafik 67" descr="Harvey Balls 100% mit einfarbiger Füllung">
              <a:extLst>
                <a:ext uri="{FF2B5EF4-FFF2-40B4-BE49-F238E27FC236}">
                  <a16:creationId xmlns:a16="http://schemas.microsoft.com/office/drawing/2014/main" id="{4EBF6FD7-5C18-ACC7-1405-F2BF0B9A6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875380" y="2190253"/>
              <a:ext cx="360000" cy="360000"/>
            </a:xfrm>
            <a:prstGeom prst="rect">
              <a:avLst/>
            </a:prstGeom>
          </p:spPr>
        </p:pic>
        <p:pic>
          <p:nvPicPr>
            <p:cNvPr id="69" name="Grafik 68" descr="Markierung mit einfarbiger Füllung">
              <a:extLst>
                <a:ext uri="{FF2B5EF4-FFF2-40B4-BE49-F238E27FC236}">
                  <a16:creationId xmlns:a16="http://schemas.microsoft.com/office/drawing/2014/main" id="{939D8484-D518-F019-D3B3-99CF417DD7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81050" y="1838417"/>
              <a:ext cx="540000" cy="540000"/>
            </a:xfrm>
            <a:prstGeom prst="rect">
              <a:avLst/>
            </a:prstGeom>
          </p:spPr>
        </p:pic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73B9DBDC-B07D-9274-183D-4F138FCDA49A}"/>
                </a:ext>
              </a:extLst>
            </p:cNvPr>
            <p:cNvSpPr txBox="1"/>
            <p:nvPr/>
          </p:nvSpPr>
          <p:spPr>
            <a:xfrm>
              <a:off x="182307" y="2452601"/>
              <a:ext cx="3026647" cy="987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171450" indent="-171450">
                <a:spcBef>
                  <a:spcPts val="600"/>
                </a:spcBef>
                <a:buFont typeface="Wingdings" panose="05000000000000000000" pitchFamily="2" charset="2"/>
                <a:buChar char="§"/>
                <a:defRPr sz="800"/>
              </a:lvl1pPr>
            </a:lstStyle>
            <a:p>
              <a:pPr marL="0" indent="0" algn="ctr">
                <a:buNone/>
              </a:pPr>
              <a:r>
                <a:rPr lang="de-DE" sz="1200" b="1" dirty="0">
                  <a:solidFill>
                    <a:srgbClr val="20426E"/>
                  </a:solidFill>
                </a:rPr>
                <a:t>Bad Friedrichshall</a:t>
              </a:r>
              <a:endParaRPr lang="de-DE" sz="1200" dirty="0">
                <a:solidFill>
                  <a:srgbClr val="20426E"/>
                </a:solidFill>
              </a:endParaRPr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6ED44377-0F0E-5863-1C13-AFEE435FEF1B}"/>
                </a:ext>
              </a:extLst>
            </p:cNvPr>
            <p:cNvSpPr txBox="1"/>
            <p:nvPr/>
          </p:nvSpPr>
          <p:spPr>
            <a:xfrm>
              <a:off x="8719458" y="2504106"/>
              <a:ext cx="2638753" cy="592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171450" indent="-171450">
                <a:spcBef>
                  <a:spcPts val="600"/>
                </a:spcBef>
                <a:buFont typeface="Wingdings" panose="05000000000000000000" pitchFamily="2" charset="2"/>
                <a:buChar char="§"/>
                <a:defRPr sz="800"/>
              </a:lvl1pPr>
            </a:lstStyle>
            <a:p>
              <a:pPr marL="0" indent="0" algn="ctr">
                <a:buNone/>
              </a:pPr>
              <a:r>
                <a:rPr lang="de-DE" sz="1200" b="1" dirty="0">
                  <a:solidFill>
                    <a:srgbClr val="20426E"/>
                  </a:solidFill>
                </a:rPr>
                <a:t>Osterburken</a:t>
              </a:r>
              <a:endParaRPr lang="de-DE" sz="1200" dirty="0">
                <a:solidFill>
                  <a:srgbClr val="20426E"/>
                </a:solidFill>
              </a:endParaRP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C043DA21-014F-E66E-27C6-398BEFEBCBCD}"/>
                </a:ext>
              </a:extLst>
            </p:cNvPr>
            <p:cNvSpPr txBox="1"/>
            <p:nvPr/>
          </p:nvSpPr>
          <p:spPr>
            <a:xfrm>
              <a:off x="6135932" y="1301749"/>
              <a:ext cx="1830237" cy="592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171450" indent="-171450">
                <a:spcBef>
                  <a:spcPts val="600"/>
                </a:spcBef>
                <a:buFont typeface="Wingdings" panose="05000000000000000000" pitchFamily="2" charset="2"/>
                <a:buChar char="§"/>
                <a:defRPr sz="800"/>
              </a:lvl1pPr>
            </a:lstStyle>
            <a:p>
              <a:pPr marL="0" indent="0" algn="ctr">
                <a:buNone/>
              </a:pPr>
              <a:r>
                <a:rPr lang="de-DE" sz="1200" b="1">
                  <a:solidFill>
                    <a:srgbClr val="20426E"/>
                  </a:solidFill>
                </a:rPr>
                <a:t>Roigheim</a:t>
              </a:r>
              <a:endParaRPr lang="de-DE" sz="1200">
                <a:solidFill>
                  <a:srgbClr val="20426E"/>
                </a:solidFill>
              </a:endParaRPr>
            </a:p>
          </p:txBody>
        </p:sp>
        <p:pic>
          <p:nvPicPr>
            <p:cNvPr id="73" name="Grafik 72" descr="Harvey Balls 100% mit einfarbiger Füllung">
              <a:extLst>
                <a:ext uri="{FF2B5EF4-FFF2-40B4-BE49-F238E27FC236}">
                  <a16:creationId xmlns:a16="http://schemas.microsoft.com/office/drawing/2014/main" id="{067E3595-BA5E-E390-718D-86B4132437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77765" y="3260178"/>
              <a:ext cx="360000" cy="360000"/>
            </a:xfrm>
            <a:prstGeom prst="rect">
              <a:avLst/>
            </a:prstGeom>
          </p:spPr>
        </p:pic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C9980F10-2656-C8C3-F02B-FF36876E88FC}"/>
                </a:ext>
              </a:extLst>
            </p:cNvPr>
            <p:cNvSpPr txBox="1"/>
            <p:nvPr/>
          </p:nvSpPr>
          <p:spPr>
            <a:xfrm>
              <a:off x="5889098" y="3440178"/>
              <a:ext cx="2190671" cy="592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171450" indent="-171450">
                <a:spcBef>
                  <a:spcPts val="600"/>
                </a:spcBef>
                <a:buFont typeface="Wingdings" panose="05000000000000000000" pitchFamily="2" charset="2"/>
                <a:buChar char="§"/>
                <a:defRPr sz="800"/>
              </a:lvl1pPr>
            </a:lstStyle>
            <a:p>
              <a:pPr marL="0" indent="0" algn="ctr">
                <a:buNone/>
              </a:pPr>
              <a:r>
                <a:rPr lang="de-DE" sz="1200" b="1">
                  <a:solidFill>
                    <a:srgbClr val="20426E"/>
                  </a:solidFill>
                </a:rPr>
                <a:t>Möckmühl</a:t>
              </a:r>
              <a:endParaRPr lang="de-DE" sz="1200">
                <a:solidFill>
                  <a:srgbClr val="20426E"/>
                </a:solidFill>
              </a:endParaRPr>
            </a:p>
          </p:txBody>
        </p:sp>
      </p:grpSp>
      <p:pic>
        <p:nvPicPr>
          <p:cNvPr id="78" name="Grafik 77">
            <a:extLst>
              <a:ext uri="{FF2B5EF4-FFF2-40B4-BE49-F238E27FC236}">
                <a16:creationId xmlns:a16="http://schemas.microsoft.com/office/drawing/2014/main" id="{4968C224-B09D-55CC-8CA0-0B8A12990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" r="80"/>
          <a:stretch/>
        </p:blipFill>
        <p:spPr>
          <a:xfrm>
            <a:off x="1202299" y="3386030"/>
            <a:ext cx="3846337" cy="25306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" name="!!Vorstellung">
            <a:extLst>
              <a:ext uri="{FF2B5EF4-FFF2-40B4-BE49-F238E27FC236}">
                <a16:creationId xmlns:a16="http://schemas.microsoft.com/office/drawing/2014/main" id="{63C7417C-1D77-D037-1D92-22A26D056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9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B48D-7094-0C77-735C-B5A3CFAB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1722DC1-83B3-43B6-E9E1-3B63B3448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14ECDAE3-C651-D425-D791-86842D84C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3500A20-D288-1DFB-EFD3-C89C9F8E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Projektbeteiligte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24654F9-19F6-5A0C-7725-E2415E30773A}"/>
              </a:ext>
            </a:extLst>
          </p:cNvPr>
          <p:cNvSpPr/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D82F6D4-BE46-437B-24C1-643E3F367EEE}"/>
              </a:ext>
            </a:extLst>
          </p:cNvPr>
          <p:cNvSpPr txBox="1">
            <a:spLocks/>
          </p:cNvSpPr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Ausführungsplanung &amp; ausführende Baufirma</a:t>
            </a:r>
            <a:br>
              <a:rPr lang="de-DE" dirty="0"/>
            </a:br>
            <a:endParaRPr lang="de-DE" dirty="0"/>
          </a:p>
        </p:txBody>
      </p:sp>
      <p:sp>
        <p:nvSpPr>
          <p:cNvPr id="11" name="!!Rechteck">
            <a:extLst>
              <a:ext uri="{FF2B5EF4-FFF2-40B4-BE49-F238E27FC236}">
                <a16:creationId xmlns:a16="http://schemas.microsoft.com/office/drawing/2014/main" id="{46764087-3AA5-D9A5-9CBB-18CE2C65E366}"/>
              </a:ext>
            </a:extLst>
          </p:cNvPr>
          <p:cNvSpPr/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4637A47E-913A-97A2-2E0A-FA2921F9731D}"/>
              </a:ext>
            </a:extLst>
          </p:cNvPr>
          <p:cNvSpPr txBox="1">
            <a:spLocks/>
          </p:cNvSpPr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EB891B"/>
              </a:buClr>
              <a:buNone/>
            </a:pPr>
            <a:r>
              <a:rPr lang="de-DE" sz="1600" dirty="0">
                <a:latin typeface="DB Neo Screen Head Black" pitchFamily="2" charset="0"/>
              </a:rPr>
              <a:t>Projektsteuerung &amp; Planlaufmanagement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0FC63E8-AD98-5B1E-50EA-D660C756ABCC}"/>
              </a:ext>
            </a:extLst>
          </p:cNvPr>
          <p:cNvSpPr/>
          <p:nvPr/>
        </p:nvSpPr>
        <p:spPr>
          <a:xfrm>
            <a:off x="623888" y="1273104"/>
            <a:ext cx="5040000" cy="2159999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1BB19131-5D2B-0447-A5DC-E1B338D8B5E8}"/>
              </a:ext>
            </a:extLst>
          </p:cNvPr>
          <p:cNvSpPr/>
          <p:nvPr/>
        </p:nvSpPr>
        <p:spPr>
          <a:xfrm>
            <a:off x="623888" y="3917391"/>
            <a:ext cx="5040000" cy="2159999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A8479DE0-699B-86AD-83BB-E645F5184582}"/>
              </a:ext>
            </a:extLst>
          </p:cNvPr>
          <p:cNvSpPr txBox="1">
            <a:spLocks/>
          </p:cNvSpPr>
          <p:nvPr/>
        </p:nvSpPr>
        <p:spPr>
          <a:xfrm>
            <a:off x="623888" y="3926233"/>
            <a:ext cx="5040000" cy="2159999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>
                <a:latin typeface="DB Neo Screen Head Black" pitchFamily="2" charset="0"/>
              </a:rPr>
              <a:t>Bauüberwachung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C874550-5644-E96D-1016-E24D3830EF5E}"/>
              </a:ext>
            </a:extLst>
          </p:cNvPr>
          <p:cNvSpPr txBox="1">
            <a:spLocks/>
          </p:cNvSpPr>
          <p:nvPr/>
        </p:nvSpPr>
        <p:spPr>
          <a:xfrm>
            <a:off x="623888" y="1285875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EB891B"/>
              </a:buClr>
              <a:buNone/>
            </a:pPr>
            <a:r>
              <a:rPr lang="de-DE" sz="1600">
                <a:latin typeface="DB Neo Screen Head Black" pitchFamily="2" charset="0"/>
              </a:rPr>
              <a:t>Bauherr / Projektleitung</a:t>
            </a:r>
          </a:p>
        </p:txBody>
      </p:sp>
      <p:pic>
        <p:nvPicPr>
          <p:cNvPr id="31" name="!!Reif">
            <a:extLst>
              <a:ext uri="{FF2B5EF4-FFF2-40B4-BE49-F238E27FC236}">
                <a16:creationId xmlns:a16="http://schemas.microsoft.com/office/drawing/2014/main" id="{80AA188E-2B69-31C3-8883-9C905576B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97" y="2224781"/>
            <a:ext cx="1800000" cy="86290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8B942AA-1DFB-4671-5999-F4D9645F2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469" y="2272829"/>
            <a:ext cx="1800000" cy="397476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2C2C8832-522B-8315-29FE-C59DCEF2A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97" y="4886024"/>
            <a:ext cx="1800000" cy="451800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8594EED1-5E17-59E8-F728-840725DED6D9}"/>
              </a:ext>
            </a:extLst>
          </p:cNvPr>
          <p:cNvSpPr txBox="1"/>
          <p:nvPr/>
        </p:nvSpPr>
        <p:spPr>
          <a:xfrm>
            <a:off x="2890838" y="1982203"/>
            <a:ext cx="2773050" cy="138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  <a:t>DB InfraGO AG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Regionalbereich Südwest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Bahnhofplatz 1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76137 Karlsruhe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8F0F67D-34ED-2871-E7E7-6544A5DAD473}"/>
              </a:ext>
            </a:extLst>
          </p:cNvPr>
          <p:cNvSpPr txBox="1"/>
          <p:nvPr/>
        </p:nvSpPr>
        <p:spPr>
          <a:xfrm>
            <a:off x="3031326" y="4622560"/>
            <a:ext cx="2525400" cy="106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600" b="1">
                <a:solidFill>
                  <a:srgbClr val="20426E"/>
                </a:solidFill>
                <a:latin typeface="DB Neo Office" pitchFamily="2" charset="0"/>
              </a:rPr>
              <a:t>SCS Engineering GmbH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>
                <a:solidFill>
                  <a:srgbClr val="20426E"/>
                </a:solidFill>
                <a:latin typeface="DB Neo Office" pitchFamily="2" charset="0"/>
              </a:rPr>
              <a:t>Rennbachweg 45a</a:t>
            </a:r>
            <a:br>
              <a:rPr lang="de-DE" sz="1400">
                <a:solidFill>
                  <a:srgbClr val="20426E"/>
                </a:solidFill>
                <a:latin typeface="DB Neo Office" pitchFamily="2" charset="0"/>
              </a:rPr>
            </a:br>
            <a:r>
              <a:rPr lang="de-DE" sz="1400">
                <a:solidFill>
                  <a:srgbClr val="20426E"/>
                </a:solidFill>
                <a:latin typeface="DB Neo Office" pitchFamily="2" charset="0"/>
              </a:rPr>
              <a:t>75181 Pforzheim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EBDA8632-D976-E80F-6A98-AE7C47839387}"/>
              </a:ext>
            </a:extLst>
          </p:cNvPr>
          <p:cNvSpPr txBox="1"/>
          <p:nvPr/>
        </p:nvSpPr>
        <p:spPr>
          <a:xfrm>
            <a:off x="8683181" y="1982203"/>
            <a:ext cx="2634716" cy="1347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Clr>
                <a:srgbClr val="EB891B"/>
              </a:buClr>
            </a:pPr>
            <a: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  <a:t>REIF Bauunternehmung GmbH &amp; Co. KG</a:t>
            </a:r>
            <a:br>
              <a:rPr lang="de-DE" sz="1600" b="1" dirty="0">
                <a:solidFill>
                  <a:srgbClr val="20426E"/>
                </a:solidFill>
                <a:latin typeface="DB Neo Office" pitchFamily="2" charset="0"/>
              </a:rPr>
            </a:b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Beim Runden </a:t>
            </a:r>
            <a:r>
              <a:rPr lang="de-DE" sz="1400" dirty="0" err="1">
                <a:solidFill>
                  <a:srgbClr val="20426E"/>
                </a:solidFill>
                <a:latin typeface="DB Neo Office" pitchFamily="2" charset="0"/>
              </a:rPr>
              <a:t>Plom</a:t>
            </a: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 13</a:t>
            </a:r>
          </a:p>
          <a:p>
            <a:pPr>
              <a:lnSpc>
                <a:spcPct val="140000"/>
              </a:lnSpc>
              <a:buClr>
                <a:srgbClr val="EB891B"/>
              </a:buClr>
            </a:pPr>
            <a:r>
              <a:rPr lang="de-DE" sz="1400" dirty="0">
                <a:solidFill>
                  <a:srgbClr val="20426E"/>
                </a:solidFill>
                <a:latin typeface="DB Neo Office" pitchFamily="2" charset="0"/>
              </a:rPr>
              <a:t>76275 Ettlingen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A944D4F-4E9A-2EA9-630F-6E98810C8609}"/>
              </a:ext>
            </a:extLst>
          </p:cNvPr>
          <p:cNvSpPr txBox="1"/>
          <p:nvPr/>
        </p:nvSpPr>
        <p:spPr>
          <a:xfrm>
            <a:off x="8683180" y="4622560"/>
            <a:ext cx="2634717" cy="106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600" b="1">
                <a:solidFill>
                  <a:srgbClr val="20426E"/>
                </a:solidFill>
                <a:latin typeface="DB Neo Office" pitchFamily="2" charset="0"/>
              </a:rPr>
              <a:t>Mailänder Consult GmbH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>
                <a:solidFill>
                  <a:srgbClr val="20426E"/>
                </a:solidFill>
                <a:latin typeface="DB Neo Office" pitchFamily="2" charset="0"/>
              </a:rPr>
              <a:t>Mathystraße 13</a:t>
            </a:r>
          </a:p>
          <a:p>
            <a:pPr>
              <a:lnSpc>
                <a:spcPct val="150000"/>
              </a:lnSpc>
              <a:buClr>
                <a:srgbClr val="EB891B"/>
              </a:buClr>
            </a:pPr>
            <a:r>
              <a:rPr lang="de-DE" sz="1400">
                <a:solidFill>
                  <a:srgbClr val="20426E"/>
                </a:solidFill>
                <a:latin typeface="DB Neo Office" pitchFamily="2" charset="0"/>
              </a:rPr>
              <a:t>76133 Karlsruhe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207FB097-BD7E-3AE5-2C79-A2B009758B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6" r="7919"/>
          <a:stretch>
            <a:fillRect/>
          </a:stretch>
        </p:blipFill>
        <p:spPr>
          <a:xfrm>
            <a:off x="925469" y="4751969"/>
            <a:ext cx="1800000" cy="719910"/>
          </a:xfrm>
          <a:prstGeom prst="rect">
            <a:avLst/>
          </a:prstGeom>
        </p:spPr>
      </p:pic>
      <p:pic>
        <p:nvPicPr>
          <p:cNvPr id="12" name="!!Vorstellung">
            <a:extLst>
              <a:ext uri="{FF2B5EF4-FFF2-40B4-BE49-F238E27FC236}">
                <a16:creationId xmlns:a16="http://schemas.microsoft.com/office/drawing/2014/main" id="{056F040F-FAA0-58B4-1B05-703D95CDE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5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62DA7-3128-E117-264A-7AB72B6F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FBCEA83-D1F5-F2F7-ED89-53E6530A0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7B8B6B43-4DE9-9CFB-5AA2-5CA79E2FC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D1298EE-D438-D579-B265-CDD4C9BD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BIM im Projekt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D7D061C4-155D-ABE3-F82C-B18F3305F298}"/>
              </a:ext>
            </a:extLst>
          </p:cNvPr>
          <p:cNvSpPr/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34" name="Textplatzhalter 2">
            <a:extLst>
              <a:ext uri="{FF2B5EF4-FFF2-40B4-BE49-F238E27FC236}">
                <a16:creationId xmlns:a16="http://schemas.microsoft.com/office/drawing/2014/main" id="{442EA79C-C952-0995-1DC1-704F60870DBF}"/>
              </a:ext>
            </a:extLst>
          </p:cNvPr>
          <p:cNvSpPr txBox="1">
            <a:spLocks/>
          </p:cNvSpPr>
          <p:nvPr/>
        </p:nvSpPr>
        <p:spPr>
          <a:xfrm>
            <a:off x="6317019" y="1269000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Standardleistungen BAP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BIM-Modell als Grundlage in der Baubesprechung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Digitale Übergabe von Baustelleninformationen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Erstellen As-</a:t>
            </a:r>
            <a:r>
              <a:rPr lang="de-DE" sz="1400" dirty="0" err="1"/>
              <a:t>Built</a:t>
            </a:r>
            <a:r>
              <a:rPr lang="de-DE" sz="1400" dirty="0"/>
              <a:t>-Modell inkl. Erfassung mittels Punktewolken und Kontrolle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F2635E1C-169F-AC90-4774-43EAA03A48FB}"/>
              </a:ext>
            </a:extLst>
          </p:cNvPr>
          <p:cNvSpPr/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38" name="Textplatzhalter 2">
            <a:extLst>
              <a:ext uri="{FF2B5EF4-FFF2-40B4-BE49-F238E27FC236}">
                <a16:creationId xmlns:a16="http://schemas.microsoft.com/office/drawing/2014/main" id="{2193F143-187C-E648-FEF7-8C55B91AC577}"/>
              </a:ext>
            </a:extLst>
          </p:cNvPr>
          <p:cNvSpPr txBox="1">
            <a:spLocks/>
          </p:cNvSpPr>
          <p:nvPr/>
        </p:nvSpPr>
        <p:spPr>
          <a:xfrm>
            <a:off x="6312213" y="3917391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EB891B"/>
              </a:buClr>
              <a:buNone/>
            </a:pPr>
            <a:r>
              <a:rPr lang="de-DE" sz="1600" dirty="0">
                <a:latin typeface="DB Neo Screen Head Black" pitchFamily="2" charset="0"/>
              </a:rPr>
              <a:t>Zusatzleistungen &amp; Besonderheiten</a:t>
            </a:r>
          </a:p>
          <a:p>
            <a:pPr marL="0" indent="0" algn="ctr">
              <a:buClr>
                <a:srgbClr val="EB891B"/>
              </a:buClr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BIM Integration im Bauschild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Wöchentliche Darstellung des aktueller Baufortschritts am BIM-Modell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360°Videodokumentation mit BIM-Modell verknüpft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3EC38CF6-70F7-FC29-19B2-391268CDDA47}"/>
              </a:ext>
            </a:extLst>
          </p:cNvPr>
          <p:cNvSpPr/>
          <p:nvPr/>
        </p:nvSpPr>
        <p:spPr>
          <a:xfrm>
            <a:off x="623888" y="1273104"/>
            <a:ext cx="5040000" cy="4804287"/>
          </a:xfrm>
          <a:prstGeom prst="roundRect">
            <a:avLst>
              <a:gd name="adj" fmla="val 5732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5" name="!!Vorstellung">
            <a:extLst>
              <a:ext uri="{FF2B5EF4-FFF2-40B4-BE49-F238E27FC236}">
                <a16:creationId xmlns:a16="http://schemas.microsoft.com/office/drawing/2014/main" id="{A9551041-0991-7948-B47E-D4511528F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6C5756D-AB26-33F4-8F4A-8B65F6BA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44" y="1273103"/>
            <a:ext cx="4804288" cy="48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3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5242-5FE9-5977-B16A-8226C283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36C736C-C6A9-E829-055C-CD9F34A6E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650C30C2-5A2D-438A-7AB1-E52DE5AB4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7F1A36-09F5-1403-89CD-B3DD040B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Digitales Bauschild</a:t>
            </a:r>
          </a:p>
        </p:txBody>
      </p:sp>
      <p:sp>
        <p:nvSpPr>
          <p:cNvPr id="40" name="!!Rechteck">
            <a:extLst>
              <a:ext uri="{FF2B5EF4-FFF2-40B4-BE49-F238E27FC236}">
                <a16:creationId xmlns:a16="http://schemas.microsoft.com/office/drawing/2014/main" id="{C4DB4D18-FFB7-DA5D-0065-B1834D5A618E}"/>
              </a:ext>
            </a:extLst>
          </p:cNvPr>
          <p:cNvSpPr/>
          <p:nvPr/>
        </p:nvSpPr>
        <p:spPr>
          <a:xfrm>
            <a:off x="623888" y="1273104"/>
            <a:ext cx="5040000" cy="4804287"/>
          </a:xfrm>
          <a:prstGeom prst="roundRect">
            <a:avLst>
              <a:gd name="adj" fmla="val 4036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C8FA128-895C-558C-2DB3-761E34AFEDF2}"/>
              </a:ext>
            </a:extLst>
          </p:cNvPr>
          <p:cNvSpPr/>
          <p:nvPr/>
        </p:nvSpPr>
        <p:spPr>
          <a:xfrm>
            <a:off x="6317019" y="1269000"/>
            <a:ext cx="5040000" cy="4808390"/>
          </a:xfrm>
          <a:prstGeom prst="roundRect">
            <a:avLst>
              <a:gd name="adj" fmla="val 5736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BE05C0F-9476-9138-218E-63C9732C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76" y="1230705"/>
            <a:ext cx="5142322" cy="5142322"/>
          </a:xfrm>
          <a:prstGeom prst="rect">
            <a:avLst/>
          </a:prstGeom>
        </p:spPr>
      </p:pic>
      <p:pic>
        <p:nvPicPr>
          <p:cNvPr id="8" name="!!Vorstellung">
            <a:extLst>
              <a:ext uri="{FF2B5EF4-FFF2-40B4-BE49-F238E27FC236}">
                <a16:creationId xmlns:a16="http://schemas.microsoft.com/office/drawing/2014/main" id="{EDE74AF6-0B2F-CFF8-68D2-375220785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BF5ECEC-4C38-0D34-FE0D-3D164E463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" t="-63" r="20963" b="63"/>
          <a:stretch>
            <a:fillRect/>
          </a:stretch>
        </p:blipFill>
        <p:spPr>
          <a:xfrm rot="5400000">
            <a:off x="995607" y="1638083"/>
            <a:ext cx="4301591" cy="40799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6153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59887-4E71-EA93-4B7E-33E07B2C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9F5B838-4576-B98B-E9C3-2E4E655584B1}"/>
              </a:ext>
            </a:extLst>
          </p:cNvPr>
          <p:cNvSpPr/>
          <p:nvPr/>
        </p:nvSpPr>
        <p:spPr>
          <a:xfrm>
            <a:off x="623888" y="1341011"/>
            <a:ext cx="8221699" cy="4668474"/>
          </a:xfrm>
          <a:prstGeom prst="roundRect">
            <a:avLst>
              <a:gd name="adj" fmla="val 4819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771293-6BC5-E2CC-5120-DE00A2B69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B652B8DB-CDEC-6115-6BFA-FCE150F6D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CE0390A-D20C-4AB3-700B-745F2A94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DB Neo Screen Head Black"/>
              </a:rPr>
              <a:t>Baufortschrittsmodell </a:t>
            </a:r>
            <a:r>
              <a:rPr lang="de-DE" sz="2000" dirty="0">
                <a:solidFill>
                  <a:srgbClr val="EB891B"/>
                </a:solidFill>
                <a:latin typeface="DB Neo Screen Head Black"/>
              </a:rPr>
              <a:t>Fortschrittskontrolle</a:t>
            </a:r>
            <a:endParaRPr lang="en-US" sz="2000" dirty="0">
              <a:solidFill>
                <a:srgbClr val="EB891B"/>
              </a:solidFill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FADEFDAD-BDDC-8EE5-40DC-5616CD086771}"/>
              </a:ext>
            </a:extLst>
          </p:cNvPr>
          <p:cNvSpPr/>
          <p:nvPr/>
        </p:nvSpPr>
        <p:spPr>
          <a:xfrm>
            <a:off x="9123415" y="2037391"/>
            <a:ext cx="2233603" cy="3121933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3935158D-6A84-F1A9-CB68-1089B4343A4D}"/>
              </a:ext>
            </a:extLst>
          </p:cNvPr>
          <p:cNvSpPr txBox="1">
            <a:spLocks/>
          </p:cNvSpPr>
          <p:nvPr/>
        </p:nvSpPr>
        <p:spPr>
          <a:xfrm>
            <a:off x="9123415" y="2037392"/>
            <a:ext cx="2233604" cy="3121932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600" dirty="0">
                <a:latin typeface="DB Neo Screen Head Black" pitchFamily="2" charset="0"/>
              </a:rPr>
              <a:t>Legende</a:t>
            </a:r>
          </a:p>
          <a:p>
            <a:pPr marL="0" indent="0" algn="ctr">
              <a:buNone/>
            </a:pPr>
            <a:endParaRPr lang="de-DE" sz="1200" dirty="0">
              <a:latin typeface="DB Neo Screen Head Black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DB Neo Office"/>
                <a:ea typeface="Roboto Black" panose="020F0502020204030204" pitchFamily="2" charset="0"/>
                <a:cs typeface="Roboto Black" panose="020F0502020204030204" pitchFamily="2" charset="0"/>
              </a:rPr>
              <a:t>Grün: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20426E"/>
                </a:solidFill>
                <a:effectLst/>
                <a:uLnTx/>
                <a:uFillTx/>
                <a:latin typeface="DB Neo Office"/>
                <a:ea typeface="Roboto Black" panose="020F0502020204030204" pitchFamily="2" charset="0"/>
                <a:cs typeface="Roboto Black" panose="020F0502020204030204" pitchFamily="2" charset="0"/>
              </a:rPr>
              <a:t>Wurde gebaut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DB Neo Office"/>
              <a:ea typeface="Roboto Black" panose="020F0502020204030204" pitchFamily="2" charset="0"/>
              <a:cs typeface="Roboto Black" panose="020F05020202040302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DB Neo Office"/>
                <a:ea typeface="Roboto Black" panose="020F0502020204030204" pitchFamily="2" charset="0"/>
                <a:cs typeface="Roboto Black" panose="020F0502020204030204" pitchFamily="2" charset="0"/>
              </a:rPr>
              <a:t>Rot: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20426E"/>
                </a:solidFill>
                <a:effectLst/>
                <a:uLnTx/>
                <a:uFillTx/>
                <a:latin typeface="DB Neo Office"/>
                <a:ea typeface="Roboto Black" panose="020F0502020204030204" pitchFamily="2" charset="0"/>
                <a:cs typeface="Roboto Black" panose="020F0502020204030204" pitchFamily="2" charset="0"/>
              </a:rPr>
              <a:t>Vorschau / Arbeitsanmeldung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9B00"/>
              </a:solidFill>
              <a:effectLst/>
              <a:uLnTx/>
              <a:uFillTx/>
              <a:latin typeface="DB Neo Office"/>
              <a:ea typeface="Roboto Black" panose="020F0502020204030204" pitchFamily="2" charset="0"/>
              <a:cs typeface="Roboto Black" panose="020F05020202040302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9B00"/>
                </a:solidFill>
                <a:effectLst/>
                <a:uLnTx/>
                <a:uFillTx/>
                <a:latin typeface="DB Neo Office"/>
                <a:ea typeface="Roboto Black" panose="020F0502020204030204" pitchFamily="2" charset="0"/>
                <a:cs typeface="Roboto Black" panose="020F0502020204030204" pitchFamily="2" charset="0"/>
              </a:rPr>
              <a:t>Orange: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20426E"/>
                </a:solidFill>
                <a:effectLst/>
                <a:uLnTx/>
                <a:uFillTx/>
                <a:latin typeface="DB Neo Office"/>
                <a:ea typeface="Roboto Black" panose="020F0502020204030204" pitchFamily="2" charset="0"/>
                <a:cs typeface="Roboto Black" panose="020F0502020204030204" pitchFamily="2" charset="0"/>
              </a:rPr>
              <a:t>Teilweise erbracht, Element kann nicht geteilt werden</a:t>
            </a:r>
          </a:p>
        </p:txBody>
      </p:sp>
      <p:pic>
        <p:nvPicPr>
          <p:cNvPr id="6" name="!!Vorstellung">
            <a:hlinkClick r:id="rId2" action="ppaction://hlinkfile"/>
            <a:extLst>
              <a:ext uri="{FF2B5EF4-FFF2-40B4-BE49-F238E27FC236}">
                <a16:creationId xmlns:a16="http://schemas.microsoft.com/office/drawing/2014/main" id="{1A307CB0-33E9-ED99-CED0-4E33379AF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1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DB775-3856-7D29-AE34-7186A3C1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199F0D-64AA-95D1-C899-92D1124DE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848CA5B4-B0FA-4751-8FBA-BF3F0C44B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8FC448-45AD-272E-B471-D4277E4D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DB Neo Screen Head Black"/>
              </a:rPr>
              <a:t>Baufortschrittsmodell </a:t>
            </a:r>
            <a:r>
              <a:rPr lang="de-DE" sz="2000" dirty="0">
                <a:solidFill>
                  <a:srgbClr val="EB891B"/>
                </a:solidFill>
                <a:latin typeface="DB Neo Screen Head Black"/>
              </a:rPr>
              <a:t>Integration Punktwolke</a:t>
            </a:r>
            <a:endParaRPr lang="en-US" dirty="0">
              <a:solidFill>
                <a:srgbClr val="EB891B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D1FEADE-196B-4ED8-9CEE-BAA9133E1396}"/>
              </a:ext>
            </a:extLst>
          </p:cNvPr>
          <p:cNvSpPr/>
          <p:nvPr/>
        </p:nvSpPr>
        <p:spPr>
          <a:xfrm>
            <a:off x="1850233" y="1698676"/>
            <a:ext cx="8543194" cy="4041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72000" rtlCol="0" anchor="t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endParaRPr lang="de-DE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B Sans"/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30E57C6-1556-929E-95E6-94770120A6D9}"/>
              </a:ext>
            </a:extLst>
          </p:cNvPr>
          <p:cNvSpPr/>
          <p:nvPr/>
        </p:nvSpPr>
        <p:spPr>
          <a:xfrm>
            <a:off x="623888" y="1341011"/>
            <a:ext cx="8221699" cy="4668474"/>
          </a:xfrm>
          <a:prstGeom prst="roundRect">
            <a:avLst>
              <a:gd name="adj" fmla="val 3656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48ABC2FF-F6A6-EFC3-120F-BA9A7C12766A}"/>
              </a:ext>
            </a:extLst>
          </p:cNvPr>
          <p:cNvSpPr/>
          <p:nvPr/>
        </p:nvSpPr>
        <p:spPr>
          <a:xfrm>
            <a:off x="9123415" y="2037391"/>
            <a:ext cx="2233603" cy="3121933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5D35B31-9170-3DE3-6E21-A389663F3581}"/>
              </a:ext>
            </a:extLst>
          </p:cNvPr>
          <p:cNvSpPr txBox="1">
            <a:spLocks/>
          </p:cNvSpPr>
          <p:nvPr/>
        </p:nvSpPr>
        <p:spPr>
          <a:xfrm>
            <a:off x="9123415" y="2037392"/>
            <a:ext cx="2233604" cy="3121932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Einbettung von Punktwolken in</a:t>
            </a:r>
            <a:br>
              <a:rPr lang="de-DE" sz="1400" dirty="0"/>
            </a:br>
            <a:r>
              <a:rPr lang="de-DE" sz="1400" dirty="0"/>
              <a:t>As-</a:t>
            </a:r>
            <a:r>
              <a:rPr lang="de-DE" sz="1400" dirty="0" err="1"/>
              <a:t>Built</a:t>
            </a:r>
            <a:r>
              <a:rPr lang="de-DE" sz="1400" dirty="0"/>
              <a:t>-Modell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Verbindung virtuelles Modell mit Realität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Lageabgleich</a:t>
            </a:r>
            <a:br>
              <a:rPr lang="de-DE" sz="1400" dirty="0"/>
            </a:br>
            <a:r>
              <a:rPr lang="de-DE" sz="1400" dirty="0"/>
              <a:t>IST-SOLL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endParaRPr lang="de-DE" sz="1600" dirty="0"/>
          </a:p>
          <a:p>
            <a:pPr marL="0" indent="0" algn="ctr">
              <a:buNone/>
            </a:pPr>
            <a:endParaRPr lang="de-DE" sz="1600" dirty="0">
              <a:latin typeface="DB Neo Screen Head Black" pitchFamily="2" charset="0"/>
            </a:endParaRPr>
          </a:p>
        </p:txBody>
      </p:sp>
      <p:pic>
        <p:nvPicPr>
          <p:cNvPr id="6" name="!!Vorstellung">
            <a:hlinkClick r:id="rId2" action="ppaction://hlinkfile"/>
            <a:extLst>
              <a:ext uri="{FF2B5EF4-FFF2-40B4-BE49-F238E27FC236}">
                <a16:creationId xmlns:a16="http://schemas.microsoft.com/office/drawing/2014/main" id="{9DCBB823-E719-AEDA-6E26-090D39558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6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C1677-6249-1163-6FC9-A4090595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1C3EC62-0048-6D92-2607-8768FBC4E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383119-3C41-4AAD-8A7E-11F974FECF27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52477DB-F031-63B4-07D9-5D42BAC70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BIM-Fachtagung - BIM trifft Bahnsteig 30.09.2026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91A810B-3EB8-569E-BA30-350C7F4A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latin typeface="DB Neo Screen Head Black"/>
              </a:rPr>
              <a:t>OpenSpace</a:t>
            </a:r>
            <a:r>
              <a:rPr lang="de-DE" dirty="0">
                <a:latin typeface="DB Neo Screen Head Black"/>
              </a:rPr>
              <a:t> </a:t>
            </a:r>
            <a:r>
              <a:rPr lang="de-DE" sz="2000" dirty="0">
                <a:solidFill>
                  <a:srgbClr val="EB891B"/>
                </a:solidFill>
                <a:latin typeface="DB Neo Screen Head Black"/>
              </a:rPr>
              <a:t>360° Videodokumentation</a:t>
            </a:r>
            <a:endParaRPr lang="de-DE" dirty="0">
              <a:solidFill>
                <a:srgbClr val="EB891B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90AA8109-118F-DBB8-D927-704BD9DD6A0F}"/>
              </a:ext>
            </a:extLst>
          </p:cNvPr>
          <p:cNvSpPr/>
          <p:nvPr/>
        </p:nvSpPr>
        <p:spPr>
          <a:xfrm>
            <a:off x="6317019" y="1269000"/>
            <a:ext cx="5040000" cy="4808390"/>
          </a:xfrm>
          <a:prstGeom prst="roundRect">
            <a:avLst>
              <a:gd name="adj" fmla="val 4794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E61E0D3-C4B0-37B2-2F0B-BD79CDC8D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075" y="1321475"/>
            <a:ext cx="4755915" cy="4755915"/>
          </a:xfrm>
          <a:prstGeom prst="rect">
            <a:avLst/>
          </a:prstGeom>
        </p:spPr>
      </p:pic>
      <p:pic>
        <p:nvPicPr>
          <p:cNvPr id="7" name="!!Vorstellung" descr="Bauarbeiter mit einfarbiger Füllung">
            <a:hlinkClick r:id="rId4" action="ppaction://hlinkfile"/>
            <a:extLst>
              <a:ext uri="{FF2B5EF4-FFF2-40B4-BE49-F238E27FC236}">
                <a16:creationId xmlns:a16="http://schemas.microsoft.com/office/drawing/2014/main" id="{23806601-B8DC-3F24-4F1B-1260F72A3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5826" y="6092825"/>
            <a:ext cx="360000" cy="360000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C2E4361-512D-3221-08ED-876387839574}"/>
              </a:ext>
            </a:extLst>
          </p:cNvPr>
          <p:cNvSpPr/>
          <p:nvPr/>
        </p:nvSpPr>
        <p:spPr>
          <a:xfrm>
            <a:off x="628694" y="1269000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7EEF82C4-EF8F-F7EE-80FD-8B449688E865}"/>
              </a:ext>
            </a:extLst>
          </p:cNvPr>
          <p:cNvSpPr txBox="1">
            <a:spLocks/>
          </p:cNvSpPr>
          <p:nvPr/>
        </p:nvSpPr>
        <p:spPr>
          <a:xfrm>
            <a:off x="628694" y="1269000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de-DE" sz="1400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9F997A6-8CFF-2E18-9273-4CBBAFC96E4F}"/>
              </a:ext>
            </a:extLst>
          </p:cNvPr>
          <p:cNvSpPr/>
          <p:nvPr/>
        </p:nvSpPr>
        <p:spPr>
          <a:xfrm>
            <a:off x="623888" y="3917391"/>
            <a:ext cx="5040000" cy="2160000"/>
          </a:xfrm>
          <a:prstGeom prst="roundRect">
            <a:avLst>
              <a:gd name="adj" fmla="val 10443"/>
            </a:avLst>
          </a:prstGeom>
          <a:solidFill>
            <a:srgbClr val="F7F6F2">
              <a:alpha val="70000"/>
            </a:srgbClr>
          </a:solidFill>
          <a:ln w="12700" cap="flat" cmpd="sng" algn="ctr">
            <a:solidFill>
              <a:srgbClr val="DCD9CF"/>
            </a:solidFill>
            <a:prstDash val="solid"/>
            <a:miter lim="800000"/>
          </a:ln>
          <a:effectLst>
            <a:outerShdw blurRad="63500" sx="101000" sy="101000" algn="ctr" rotWithShape="0">
              <a:srgbClr val="F7F6F2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endParaRPr lang="de-DE" sz="1801" kern="0">
              <a:solidFill>
                <a:srgbClr val="FFFFFF"/>
              </a:solidFill>
              <a:latin typeface="Avenir Next LT Pro"/>
            </a:endParaRP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E4F7810F-A85E-A383-505F-E1A2D1A08216}"/>
              </a:ext>
            </a:extLst>
          </p:cNvPr>
          <p:cNvSpPr txBox="1">
            <a:spLocks/>
          </p:cNvSpPr>
          <p:nvPr/>
        </p:nvSpPr>
        <p:spPr>
          <a:xfrm>
            <a:off x="623888" y="4041216"/>
            <a:ext cx="5040000" cy="2160000"/>
          </a:xfrm>
          <a:prstGeom prst="roundRect">
            <a:avLst>
              <a:gd name="adj" fmla="val 10387"/>
            </a:avLst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marL="285750" indent="-285750" algn="l" defTabSz="914400" rtl="0" eaLnBrk="1" latinLnBrk="0" hangingPunct="1">
              <a:lnSpc>
                <a:spcPct val="100000"/>
              </a:lnSpc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lnSpc>
                <a:spcPct val="100000"/>
              </a:lnSpc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Lückenlose visuelle Aufzeichnung durch 360°-Aufnahmen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Automatische Verortung auf Planunterlage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Vor-Ort-Notizen für bildbasiertes Aufgabenmanagement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Zeitliche Gegenüberstellung zur Fortschrittskontrolle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Verknüpfung mit BIM-Modell</a:t>
            </a:r>
          </a:p>
          <a:p>
            <a:pPr marL="171450" indent="-171450">
              <a:lnSpc>
                <a:spcPct val="140000"/>
              </a:lnSpc>
              <a:buClr>
                <a:srgbClr val="EB891B"/>
              </a:buClr>
            </a:pPr>
            <a:r>
              <a:rPr lang="de-DE" sz="1400" dirty="0"/>
              <a:t>Einspielen von Punktwolken</a:t>
            </a:r>
          </a:p>
        </p:txBody>
      </p:sp>
      <p:pic>
        <p:nvPicPr>
          <p:cNvPr id="21" name="Grafik 20">
            <a:hlinkClick r:id="rId6"/>
            <a:extLst>
              <a:ext uri="{FF2B5EF4-FFF2-40B4-BE49-F238E27FC236}">
                <a16:creationId xmlns:a16="http://schemas.microsoft.com/office/drawing/2014/main" id="{B4D0087C-00F2-DE23-4BAD-597896FB74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9283" y="1635825"/>
            <a:ext cx="4269210" cy="142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9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BE84-6D79-AE0B-7E29-E9107911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7CDCEF83-5D33-800F-9403-22A26491D95B}"/>
              </a:ext>
            </a:extLst>
          </p:cNvPr>
          <p:cNvSpPr/>
          <p:nvPr/>
        </p:nvSpPr>
        <p:spPr>
          <a:xfrm>
            <a:off x="7219950" y="-2"/>
            <a:ext cx="497205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646F88B-82BF-4FAD-8DE8-647462B2F6B3}"/>
              </a:ext>
            </a:extLst>
          </p:cNvPr>
          <p:cNvSpPr/>
          <p:nvPr/>
        </p:nvSpPr>
        <p:spPr>
          <a:xfrm>
            <a:off x="0" y="0"/>
            <a:ext cx="7219950" cy="6858000"/>
          </a:xfrm>
          <a:prstGeom prst="rect">
            <a:avLst/>
          </a:prstGeom>
          <a:solidFill>
            <a:srgbClr val="20426E"/>
          </a:solidFill>
          <a:ln>
            <a:solidFill>
              <a:srgbClr val="2042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83D8F9-4E28-750F-5507-80B1474BD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46099" y="204985"/>
            <a:ext cx="2721966" cy="684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F70495-E290-0EA7-B5E7-44A772737B12}"/>
              </a:ext>
            </a:extLst>
          </p:cNvPr>
          <p:cNvSpPr txBox="1">
            <a:spLocks noChangeAspect="1"/>
          </p:cNvSpPr>
          <p:nvPr/>
        </p:nvSpPr>
        <p:spPr>
          <a:xfrm>
            <a:off x="859970" y="243447"/>
            <a:ext cx="2880000" cy="63596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</a:extLst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891B"/>
              </a:buClr>
              <a:buFont typeface="Wingdings" panose="05000000000000000000" pitchFamily="2" charset="2"/>
              <a:buNone/>
              <a:defRPr sz="1000" kern="1200">
                <a:solidFill>
                  <a:schemeClr val="bg1"/>
                </a:solidFill>
                <a:latin typeface="DB Neo Office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B891B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20426E"/>
                </a:solidFill>
                <a:latin typeface="DB Neo Offic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4130A17-B10B-B396-E851-16B3BCC23B09}"/>
              </a:ext>
            </a:extLst>
          </p:cNvPr>
          <p:cNvSpPr txBox="1"/>
          <p:nvPr/>
        </p:nvSpPr>
        <p:spPr>
          <a:xfrm>
            <a:off x="745484" y="1423827"/>
            <a:ext cx="65968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BIM trifft Bahnsteig</a:t>
            </a:r>
          </a:p>
          <a:p>
            <a:endParaRPr lang="de-DE" sz="5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de-DE" sz="2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BIM-Modell zur Baufortschrittskontrolle</a:t>
            </a:r>
          </a:p>
          <a:p>
            <a:r>
              <a:rPr lang="de-DE" sz="2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 Roigheim</a:t>
            </a: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de-DE" sz="2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Vielen Dank für Ihre Aufmerksamkeit!</a:t>
            </a: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endParaRPr lang="de-DE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5D56D38-0872-4E58-A173-0D68969F3448}"/>
              </a:ext>
            </a:extLst>
          </p:cNvPr>
          <p:cNvCxnSpPr>
            <a:cxnSpLocks/>
          </p:cNvCxnSpPr>
          <p:nvPr/>
        </p:nvCxnSpPr>
        <p:spPr>
          <a:xfrm>
            <a:off x="925802" y="3158245"/>
            <a:ext cx="930158" cy="0"/>
          </a:xfrm>
          <a:prstGeom prst="line">
            <a:avLst/>
          </a:prstGeom>
          <a:ln w="127000" cap="rnd">
            <a:solidFill>
              <a:srgbClr val="EB89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30BA3271-641F-56A3-653A-F83CC201A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492" y="440364"/>
            <a:ext cx="3240000" cy="324000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EA58AE59-281F-6DB8-6941-84B2B5CC3D85}"/>
              </a:ext>
            </a:extLst>
          </p:cNvPr>
          <p:cNvSpPr txBox="1"/>
          <p:nvPr/>
        </p:nvSpPr>
        <p:spPr>
          <a:xfrm>
            <a:off x="8723074" y="3507562"/>
            <a:ext cx="1593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solidFill>
                  <a:srgbClr val="EB891B"/>
                </a:solidFill>
                <a:latin typeface="+mj-lt"/>
                <a:cs typeface="Arial" panose="020B0604020202020204" pitchFamily="34" charset="0"/>
              </a:rPr>
              <a:t>OpenSpace</a:t>
            </a:r>
            <a:endParaRPr lang="de-DE" sz="1800" b="1" dirty="0">
              <a:solidFill>
                <a:srgbClr val="EB891B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8FDB03B-F13F-419B-3D03-53CAB6161215}"/>
              </a:ext>
            </a:extLst>
          </p:cNvPr>
          <p:cNvSpPr txBox="1"/>
          <p:nvPr/>
        </p:nvSpPr>
        <p:spPr>
          <a:xfrm>
            <a:off x="8280756" y="238452"/>
            <a:ext cx="247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>
                <a:solidFill>
                  <a:srgbClr val="EB891B"/>
                </a:solidFill>
                <a:latin typeface="+mj-lt"/>
                <a:cs typeface="Arial" panose="020B0604020202020204" pitchFamily="34" charset="0"/>
              </a:rPr>
              <a:t>Digitales </a:t>
            </a:r>
            <a:r>
              <a:rPr lang="de-DE" b="1" dirty="0">
                <a:solidFill>
                  <a:srgbClr val="EB891B"/>
                </a:solidFill>
                <a:latin typeface="+mj-lt"/>
                <a:cs typeface="Arial" panose="020B0604020202020204" pitchFamily="34" charset="0"/>
              </a:rPr>
              <a:t>B</a:t>
            </a:r>
            <a:r>
              <a:rPr lang="de-DE" sz="1800" b="1" dirty="0">
                <a:solidFill>
                  <a:srgbClr val="EB891B"/>
                </a:solidFill>
                <a:latin typeface="+mj-lt"/>
                <a:cs typeface="Arial" panose="020B0604020202020204" pitchFamily="34" charset="0"/>
              </a:rPr>
              <a:t>auschild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D939DAA-3383-A17D-61A7-3FA349D90A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0078" y="3756564"/>
            <a:ext cx="3022527" cy="302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7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1">
      <a:majorFont>
        <a:latin typeface="DB Neo Office Head"/>
        <a:ea typeface=""/>
        <a:cs typeface=""/>
      </a:majorFont>
      <a:minorFont>
        <a:latin typeface="DB Ne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F36BA45A9984B9587C7FF7395E103" ma:contentTypeVersion="25" ma:contentTypeDescription="Ein neues Dokument erstellen." ma:contentTypeScope="" ma:versionID="019883870331e442259da0b15c2b24b7">
  <xsd:schema xmlns:xsd="http://www.w3.org/2001/XMLSchema" xmlns:xs="http://www.w3.org/2001/XMLSchema" xmlns:p="http://schemas.microsoft.com/office/2006/metadata/properties" xmlns:ns2="5a767e54-8ebf-4b1b-a488-5a14e47bfb28" xmlns:ns3="871f81a9-2b62-4f92-b6e3-cae63154db13" targetNamespace="http://schemas.microsoft.com/office/2006/metadata/properties" ma:root="true" ma:fieldsID="b99b119f4ffc0aed223872ca06f9c881" ns2:_="" ns3:_="">
    <xsd:import namespace="5a767e54-8ebf-4b1b-a488-5a14e47bfb28"/>
    <xsd:import namespace="871f81a9-2b62-4f92-b6e3-cae63154db13"/>
    <xsd:element name="properties">
      <xsd:complexType>
        <xsd:sequence>
          <xsd:element name="documentManagement">
            <xsd:complexType>
              <xsd:all>
                <xsd:element ref="ns2:_ModernAudienceTargetUserField" minOccurs="0"/>
                <xsd:element ref="ns2:_ModernAudienceAadObjectId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Datum_x002f_Uhrzeit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Location" minOccurs="0"/>
                <xsd:element ref="ns2:MediaServiceBillingMetadata" minOccurs="0"/>
                <xsd:element ref="ns2:zuletztge_x00e4_ndert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767e54-8ebf-4b1b-a488-5a14e47bfb28" elementFormDefault="qualified">
    <xsd:import namespace="http://schemas.microsoft.com/office/2006/documentManagement/types"/>
    <xsd:import namespace="http://schemas.microsoft.com/office/infopath/2007/PartnerControls"/>
    <xsd:element name="_ModernAudienceTargetUserField" ma:index="8" nillable="true" ma:displayName="Benutzergrupp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9" nillable="true" ma:displayName="Benutzergruppen-IDs" ma:list="{2623d181-eed1-4a53-9df4-d700c31b4218}" ma:internalName="_ModernAudienceAadObjectIds" ma:readOnly="true" ma:showField="_AadObjectIdForUser" ma:web="871f81a9-2b62-4f92-b6e3-cae63154db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Datum_x002f_Uhrzeit" ma:index="14" nillable="true" ma:displayName="Datum/Uhrzeit" ma:format="DateOnly" ma:internalName="Datum_x002f_Uhrzeit">
      <xsd:simpleType>
        <xsd:restriction base="dms:DateTim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Bildmarkierungen" ma:readOnly="false" ma:fieldId="{5cf76f15-5ced-4ddc-b409-7134ff3c332f}" ma:taxonomyMulti="true" ma:sspId="bdabc6ef-dedf-499b-bf2e-7e572ef08e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8" nillable="true" ma:displayName="Status" ma:default="In Arbeit" ma:format="Dropdown" ma:internalName="Status">
      <xsd:simpleType>
        <xsd:union memberTypes="dms:Text">
          <xsd:simpleType>
            <xsd:restriction base="dms:Choice">
              <xsd:enumeration value="In Arbeit"/>
              <xsd:enumeration value="Teilweise erledigt"/>
              <xsd:enumeration value="Erledigt"/>
            </xsd:restriction>
          </xsd:simpleType>
        </xsd:union>
      </xsd:simpleType>
    </xsd:element>
    <xsd:element name="MediaServiceLocation" ma:index="2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zuletztge_x00e4_ndert" ma:index="31" nillable="true" ma:displayName="zuletzt geändert" ma:format="DateTime" ma:internalName="zuletztge_x00e4_ndert">
      <xsd:simpleType>
        <xsd:restriction base="dms:DateTime"/>
      </xsd:simpleType>
    </xsd:element>
    <xsd:element name="test" ma:index="32" nillable="true" ma:displayName="test" ma:format="DateOnly" ma:internalName="test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f81a9-2b62-4f92-b6e3-cae63154db1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4b6410af-b67b-42bc-b558-7249af14d706}" ma:internalName="TaxCatchAll" ma:showField="CatchAllData" ma:web="871f81a9-2b62-4f92-b6e3-cae63154db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ModernAudienceTargetUserField xmlns="5a767e54-8ebf-4b1b-a488-5a14e47bfb28">
      <UserInfo>
        <DisplayName/>
        <AccountId xsi:nil="true"/>
        <AccountType/>
      </UserInfo>
    </_ModernAudienceTargetUserField>
    <TaxCatchAll xmlns="871f81a9-2b62-4f92-b6e3-cae63154db13" xsi:nil="true"/>
    <Datum_x002f_Uhrzeit xmlns="5a767e54-8ebf-4b1b-a488-5a14e47bfb28" xsi:nil="true"/>
    <lcf76f155ced4ddcb4097134ff3c332f xmlns="5a767e54-8ebf-4b1b-a488-5a14e47bfb28">
      <Terms xmlns="http://schemas.microsoft.com/office/infopath/2007/PartnerControls"/>
    </lcf76f155ced4ddcb4097134ff3c332f>
    <Status xmlns="5a767e54-8ebf-4b1b-a488-5a14e47bfb28">In Arbeit</Status>
    <zuletztge_x00e4_ndert xmlns="5a767e54-8ebf-4b1b-a488-5a14e47bfb28" xsi:nil="true"/>
    <test xmlns="5a767e54-8ebf-4b1b-a488-5a14e47bfb28" xsi:nil="true"/>
  </documentManagement>
</p:properties>
</file>

<file path=customXml/itemProps1.xml><?xml version="1.0" encoding="utf-8"?>
<ds:datastoreItem xmlns:ds="http://schemas.openxmlformats.org/officeDocument/2006/customXml" ds:itemID="{9F13F56C-DE06-4B5A-BA59-D4984A584451}">
  <ds:schemaRefs>
    <ds:schemaRef ds:uri="5a767e54-8ebf-4b1b-a488-5a14e47bfb28"/>
    <ds:schemaRef ds:uri="871f81a9-2b62-4f92-b6e3-cae63154db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0D80D2E-9951-4741-988D-C66ABACDD6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C42678-2E93-430F-9FFF-797B186133B3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5a767e54-8ebf-4b1b-a488-5a14e47bfb28"/>
    <ds:schemaRef ds:uri="http://purl.org/dc/terms/"/>
    <ds:schemaRef ds:uri="http://schemas.microsoft.com/office/infopath/2007/PartnerControls"/>
    <ds:schemaRef ds:uri="871f81a9-2b62-4f92-b6e3-cae63154db13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Breitbild</PresentationFormat>
  <Paragraphs>270</Paragraphs>
  <Slides>15</Slides>
  <Notes>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  <vt:variant>
        <vt:lpstr>Zielgruppenorientierte Präsentationen</vt:lpstr>
      </vt:variant>
      <vt:variant>
        <vt:i4>1</vt:i4>
      </vt:variant>
    </vt:vector>
  </HeadingPairs>
  <TitlesOfParts>
    <vt:vector size="26" baseType="lpstr">
      <vt:lpstr>Aptos</vt:lpstr>
      <vt:lpstr>Arial</vt:lpstr>
      <vt:lpstr>Avenir Next LT Pro</vt:lpstr>
      <vt:lpstr>Calibri</vt:lpstr>
      <vt:lpstr>DB Neo Office</vt:lpstr>
      <vt:lpstr>DB Neo Office Head</vt:lpstr>
      <vt:lpstr>DB Neo Screen Head Black</vt:lpstr>
      <vt:lpstr>DB Sans</vt:lpstr>
      <vt:lpstr>Wingdings</vt:lpstr>
      <vt:lpstr>Office</vt:lpstr>
      <vt:lpstr>PowerPoint-Präsentation</vt:lpstr>
      <vt:lpstr>Agenda</vt:lpstr>
      <vt:lpstr>Marcel Steek Projektleitung</vt:lpstr>
      <vt:lpstr>Verkehrsstationen (V) V.IO-SW-IV</vt:lpstr>
      <vt:lpstr>Lukas Roese Externe Projektsteuerung</vt:lpstr>
      <vt:lpstr>Mailänder Consult planen · entwickeln · steuern</vt:lpstr>
      <vt:lpstr>Mailänder Consult planen · entwickeln · steuern</vt:lpstr>
      <vt:lpstr>Grundlagen</vt:lpstr>
      <vt:lpstr>Projektbeteiligte</vt:lpstr>
      <vt:lpstr>BIM im Projekt</vt:lpstr>
      <vt:lpstr>Digitales Bauschild</vt:lpstr>
      <vt:lpstr>Baufortschrittsmodell Fortschrittskontrolle</vt:lpstr>
      <vt:lpstr>Baufortschrittsmodell Integration Punktwolke</vt:lpstr>
      <vt:lpstr>OpenSpace 360° Videodokumentation</vt:lpstr>
      <vt:lpstr>PowerPoint-Präsentation</vt:lpstr>
      <vt:lpstr>Zielgruppenpräsentation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Roese</dc:creator>
  <cp:lastModifiedBy>Lukas Roese</cp:lastModifiedBy>
  <cp:revision>11</cp:revision>
  <dcterms:created xsi:type="dcterms:W3CDTF">2025-02-12T09:12:20Z</dcterms:created>
  <dcterms:modified xsi:type="dcterms:W3CDTF">2026-09-30T14:46:45Z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0x010100DAEF36BA45A9984B9587C7FF7395E103</vt:lpwstr>
  </property>
  <property fmtid="{D5CDD505-2E9C-101B-9397-08002B2CF9AE}" pid="3" name="MediaServiceImageTags">
    <vt:lpwstr/>
  </property>
</Properties>
</file>